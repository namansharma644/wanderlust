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Default Extension="xlsx" ContentType="application/vnd.openxmlformats-officedocument.spreadsheetml.sheet"/>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presProps" Target="presProps.xml"/>
</Relationships>
</file>

<file path=ppt/charts/_rels/chart1.xml.rels><?xml version='1.0' encoding='utf-8'?>
<Relationships xmlns="http://schemas.openxmlformats.org/package/2006/relationships"><Relationship Id="rIdChartSnapshot1" Type="http://schemas.openxmlformats.org/officeDocument/2006/relationships/package" Target="../embeddings/chart-data-snapshot-001.xlsx" /></Relationships>
</file>

<file path=ppt/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Demo listings</c:v>
          </c:tx>
          <c:spPr>
            <a:solidFill xmlns:a="http://schemas.openxmlformats.org/drawingml/2006/main">
              <a:srgbClr val="A94E3B"/>
            </a:solidFill>
          </c:spPr>
          <c:invertIfNegative val="0"/>
          <c:cat>
            <c:strRef>
              <c:f>'Chart Data'!$A$2:$A$5</c:f>
              <c:strCache>
                <c:ptCount val="4"/>
                <c:pt idx="0">
                  <c:v>≤ ₹1,500</c:v>
                </c:pt>
                <c:pt idx="1">
                  <c:v>₹1,501–5,000</c:v>
                </c:pt>
                <c:pt idx="2">
                  <c:v>₹5,001–10,000</c:v>
                </c:pt>
                <c:pt idx="3">
                  <c:v>&gt; ₹10,000</c:v>
                </c:pt>
              </c:strCache>
            </c:strRef>
          </c:cat>
          <c:val>
            <c:numRef>
              <c:f>'Chart Data'!$B$2:$B$5</c:f>
              <c:numCache>
                <c:formatCode>0</c:formatCode>
                <c:ptCount val="4"/>
                <c:pt idx="0">
                  <c:v>5</c:v>
                </c:pt>
                <c:pt idx="1">
                  <c:v>15</c:v>
                </c:pt>
                <c:pt idx="2">
                  <c:v>8</c:v>
                </c:pt>
                <c:pt idx="3">
                  <c:v>4</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92D28"/>
                  </a:solidFill>
                  <a:latin typeface="Liberation Sans"/>
                  <a:ea typeface="Liberation Sans"/>
                  <a:cs typeface="Liberation Sans"/>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92D28"/>
                </a:solidFill>
                <a:latin typeface="Liberation Sans"/>
                <a:ea typeface="Liberation Sans"/>
                <a:cs typeface="Liberation Sans"/>
              </a:defRPr>
            </a:pPr>
          </a:p>
        </c:txPr>
        <c:crossAx val="48672768"/>
      </c:catAx>
      <c:valAx>
        <c:axId val="48672768"/>
        <c:scaling>
          <c:orientation val="minMax"/>
          <c:max val="18"/>
          <c:min val="0"/>
        </c:scaling>
        <c:delete val="0"/>
        <c:axPos val="b"/>
        <c:majorGridlines>
          <c:spPr>
            <a:ln xmlns:a="http://schemas.openxmlformats.org/drawingml/2006/main" w="9525">
              <a:solidFill>
                <a:srgbClr val="DEDBD4"/>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2665D"/>
                </a:solidFill>
                <a:latin typeface="Liberation Sans"/>
                <a:ea typeface="Liberation Sans"/>
                <a:cs typeface="Liberation Sans"/>
              </a:defRPr>
            </a:pPr>
          </a:p>
        </c:txPr>
        <c:crossAx val="48650112"/>
        <c:crossBetween val="between"/>
        <c:majorUnit val="3"/>
      </c:valAx>
      <c:spPr>
        <a:solidFill xmlns:a="http://schemas.openxmlformats.org/drawingml/2006/main">
          <a:srgbClr val="FAF9F6"/>
        </a:solidFill>
        <a:ln xmlns:a="http://schemas.openxmlformats.org/drawingml/2006/main" w="0">
          <a:noFill/>
          <a:prstDash val="solid"/>
        </a:ln>
      </c:spPr>
    </c:plotArea>
    <c:plotVisOnly val="1"/>
  </c:chart>
  <c:spPr>
    <a:solidFill xmlns:a="http://schemas.openxmlformats.org/drawingml/2006/main">
      <a:srgbClr val="FAF9F6"/>
    </a:solidFill>
    <a:ln xmlns:a="http://schemas.openxmlformats.org/drawingml/2006/main" w="0">
      <a:noFill/>
      <a:prstDash val="solid"/>
    </a:ln>
  </c:spPr>
  <c:externalData r:id="rIdChartSnapshot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nSpc>
                <a:spcPct val="90000"/>
              </a:lnSpc>
            </a:pPr>
            <a:r>
              <a:rPr lang="en-US" sz="4400" b="0" u="none" strike="noStrike">
                <a:solidFill>
                  <a:schemeClr val="dk1"/>
                </a:solidFill>
                <a:effectLst/>
                <a:uFillTx/>
                <a:latin typeface="Aptos"/>
              </a:rPr>
              <a:t>Click to move the slide</a:t>
            </a:r>
            <a:endParaRPr lang="en-US" sz="4400" b="0" u="none" strike="noStrike">
              <a:solidFill>
                <a:schemeClr val="dk1"/>
              </a:solidFill>
              <a:effectLst/>
              <a:uFillTx/>
              <a:latin typeface="Aptos"/>
            </a:endParaRPr>
          </a:p>
        </p:txBody>
      </p:sp>
      <p:sp>
        <p:nvSpPr>
          <p:cNvPr id="1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5"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6"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7"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8"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5DA1097D-AFDD-40FE-909E-CAC178D5BDA2}"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0" y="0"/>
            <a:ext cx="0" cy="0"/>
          </a:xfrm>
          <a:prstGeom prst="rect">
            <a:avLst/>
          </a:prstGeom>
          <a:ln w="0">
            <a:noFill/>
          </a:ln>
        </p:spPr>
      </p:sp>
      <p:sp>
        <p:nvSpPr>
          <p:cNvPr id="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Introduce WanderLust as a third-year mini project for session 2025–26. Presenters are Naman Sharma, roll 2406950100108, and Prerak, roll 2406950100127. The faculty guide is Tanu Verma at Shri Ram Group of Colleges. The project preserves Node.js, Express, MongoDB, Mongoose, EJS and Bootstrap. It implements discovery, listing management and reviews. Booking and payment processing remain future scope. Cover photography comes from the previously used Start Bootstrap Grayscale asset with its MIT license.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Project sources: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https://github.com/StartBootstrap/startbootstrap-grayscale</a:t>
            </a:r>
            <a:endParaRPr lang="en-US" sz="2000" b="0" u="none" strike="noStrike">
              <a:solidFill>
                <a:srgbClr val="000000"/>
              </a:solidFill>
              <a:effectLst/>
              <a:uFillTx/>
              <a:latin typeface="Arial"/>
            </a:endParaRPr>
          </a:p>
        </p:txBody>
      </p:sp>
      <p:sp>
        <p:nvSpPr>
          <p:cNvPr id="83" name="PlaceHolder 3"/>
          <p:cNvSpPr>
            <a:spLocks noGrp="1"/>
          </p:cNvSpPr>
          <p:nvPr>
            <p:ph type="sldNum" idx="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0" y="0"/>
            <a:ext cx="0" cy="0"/>
          </a:xfrm>
          <a:prstGeom prst="rect">
            <a:avLst/>
          </a:prstGeom>
          <a:ln w="0">
            <a:noFill/>
          </a:ln>
        </p:spPr>
      </p:sp>
      <p:sp>
        <p:nvSpPr>
          <p:cNvPr id="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application addresses practical discovery and management needs. Visitors need coherent property information and price comparison. Owners need a way to publish and maintain their spaces. Registered users can contribute genuine reviews. The objectives are destination search, combined price filtering, responsive presentation, ownership checks and useful feedback. A host is an authenticated listing owner rather than a separate admin role. The current schema has no reservation dates, inventory or transaction model. Present this as an academic travel discovery application, not a full commercial booking system.</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Project sources: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https://github.com/Namansharma644/WanderLust/blob/c2f12175ac9457aa704d30e0015704dcc8634095/Models/listing.js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https://github.com/Namansharma644/WanderLust/blob/c2f12175ac9457aa704d30e0015704dcc8634095/router/listing.js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https://github.com/Namansharma644/WanderLust/blob/c2f12175ac9457aa704d30e0015704dcc8634095/middleware.js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https://github.com/Namansharma644/WanderLust/blob/c2f12175ac9457aa704d30e0015704dcc8634095/util/listingSearch.js</a:t>
            </a:r>
            <a:endParaRPr lang="en-US" sz="2000" b="0" u="none" strike="noStrike">
              <a:solidFill>
                <a:srgbClr val="000000"/>
              </a:solidFill>
              <a:effectLst/>
              <a:uFillTx/>
              <a:latin typeface="Arial"/>
            </a:endParaRPr>
          </a:p>
        </p:txBody>
      </p:sp>
      <p:sp>
        <p:nvSpPr>
          <p:cNvPr id="86" name="PlaceHolder 3"/>
          <p:cNvSpPr>
            <a:spLocks noGrp="1"/>
          </p:cNvSpPr>
          <p:nvPr>
            <p:ph type="sldNum" idx="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0" y="0"/>
            <a:ext cx="0" cy="0"/>
          </a:xfrm>
          <a:prstGeom prst="rect">
            <a:avLst/>
          </a:prstGeom>
          <a:ln w="0">
            <a:noFill/>
          </a:ln>
        </p:spPr>
      </p:sp>
      <p:sp>
        <p:nvSpPr>
          <p:cNvPr id="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Follow the request from the browser to Express, through middleware/controllers and Mongoose, and into MongoDB Atlas. EJS renders HTML while Bootstrap and custom CSS provide the layout. Passport and express-session maintain user identity. The User model uses passport-local-mongoose authentication fields. Listing stores an owner User reference and review IDs. Review stores its author, rating, comment and timestamp. Multer and Cloudinary provide the configured image upload flow. localStorage holds saved listing IDs in the current browser only. Maps use a normal encoded area search link without a paid API key. Authentication checks identity, while owner/author checks govern mutations.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Project sources: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https://github.com/Namansharma644/WanderLust/blob/c2f12175ac9457aa704d30e0015704dcc8634095/app.js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https://github.com/Namansharma644/WanderLust/blob/c2f12175ac9457aa704d30e0015704dcc8634095/package.json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https://github.com/Namansharma644/WanderLust/blob/c2f12175ac9457aa704d30e0015704dcc8634095/Models/user.js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https://github.com/Namansharma644/WanderLust/blob/c2f12175ac9457aa704d30e0015704dcc8634095/Models/listing.js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https://github.com/Namansharma644/WanderLust/blob/c2f12175ac9457aa704d30e0015704dcc8634095/Models/reviews.js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https://github.com/Namansharma644/WanderLust/blob/c2f12175ac9457aa704d30e0015704dcc8634095/coludeConfig.js</a:t>
            </a:r>
            <a:endParaRPr lang="en-US" sz="2000" b="0" u="none" strike="noStrike">
              <a:solidFill>
                <a:srgbClr val="000000"/>
              </a:solidFill>
              <a:effectLst/>
              <a:uFillTx/>
              <a:latin typeface="Arial"/>
            </a:endParaRPr>
          </a:p>
        </p:txBody>
      </p:sp>
      <p:sp>
        <p:nvSpPr>
          <p:cNvPr id="89" name="PlaceHolder 3"/>
          <p:cNvSpPr>
            <a:spLocks noGrp="1"/>
          </p:cNvSpPr>
          <p:nvPr>
            <p:ph type="sldNum" idx="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0" y="0"/>
            <a:ext cx="0" cy="0"/>
          </a:xfrm>
          <a:prstGeom prst="rect">
            <a:avLst/>
          </a:prstGeom>
          <a:ln w="0">
            <a:noFill/>
          </a:ln>
        </p:spPr>
      </p:sp>
      <p:sp>
        <p:nvSpPr>
          <p:cNvPr id="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Search accepts a scalar q value and matches title, location or country with escaped case-insensitive regex text. Price boundaries are inclusive and the server rejects malformed or reversed ranges. Sort values are allowlisted. MongoDB handles the filtering. Results use countDocuments, skip and limit with 12 stays per page and stable _id tie-breaking. Page links preserve filters. Saved stays persist as browser-local IDs and support reload, cross-tab updates, missing records and retry after network failure. They do not sync across accounts or devices. Reviews use genuine documents and valid 1–5 ratings. Related results prefer the same city before country and return at most four other stays. The screenshot shows the current local build. External image delivery was unavailable in that environment, so photo fallbacks may appear in other screens.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Project sources: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https://github.com/Namansharma644/WanderLust/blob/c2f12175ac9457aa704d30e0015704dcc8634095/util/listingSearch.js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https://github.com/Namansharma644/WanderLust/blob/c2f12175ac9457aa704d30e0015704dcc8634095/util/listingDiscovery.js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https://github.com/Namansharma644/WanderLust/blob/c2f12175ac9457aa704d30e0015704dcc8634095/controler/listing.js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https://github.com/Namansharma644/WanderLust/blob/c2f12175ac9457aa704d30e0015704dcc8634095/public/js/saved-stays.js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https://github.com/Namansharma644/WanderLust/blob/c2f12175ac9457aa704d30e0015704dcc8634095/views/listings/index.ejs</a:t>
            </a:r>
            <a:endParaRPr lang="en-US" sz="2000" b="0" u="none" strike="noStrike">
              <a:solidFill>
                <a:srgbClr val="000000"/>
              </a:solidFill>
              <a:effectLst/>
              <a:uFillTx/>
              <a:latin typeface="Arial"/>
            </a:endParaRPr>
          </a:p>
        </p:txBody>
      </p:sp>
      <p:sp>
        <p:nvSpPr>
          <p:cNvPr id="92" name="PlaceHolder 3"/>
          <p:cNvSpPr>
            <a:spLocks noGrp="1"/>
          </p:cNvSpPr>
          <p:nvPr>
            <p:ph type="sldNum" idx="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0" y="0"/>
            <a:ext cx="0" cy="0"/>
          </a:xfrm>
          <a:prstGeom prst="rect">
            <a:avLst/>
          </a:prstGeom>
          <a:ln w="0">
            <a:noFill/>
          </a:ln>
        </p:spPr>
      </p:sp>
      <p:sp>
        <p:nvSpPr>
          <p:cNvPr id="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actual fixture manifest contains 32 fictional travel listings across 20 destination strings, priced INR 800–25,000 per night. The price-band counts are 5 at or below INR 1,500, 15 from INR 1,501–5,000, 8 from INR 5,001–10,000 and 4 above INR 10,000. The chart remains editable and its embedded workbook contains those values. Manali contributes four fixtures. Combining Manali with INR 1,000–3,000 yields two fixture matches, priced INR 1,200 and INR 2,800. Existing listings can add matches. The add-only import uses fixed IDs, an existing owner and explicit database confirmation. It preserves existing edits and skips duplicate IDs on reruns. The user reported 32 successful inserts under rohit in database wanderlust. This report is not an independent verification of Render’s database connection. No users or reviews were fabricated.</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Project sources: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https://github.com/Namansharma644/WanderLust/blob/c2f12175ac9457aa704d30e0015704dcc8634095/scripts/demo-listings.json</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https://github.com/Namansharma644/WanderLust/blob/c2f12175ac9457aa704d30e0015704dcc8634095/scripts/seed-demo-listings.cjs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https://github.com/Namansharma644/WanderLust/blob/c2f12175ac9457aa704d30e0015704dcc8634095/scripts/DEMO_DATA.md</a:t>
            </a:r>
            <a:endParaRPr lang="en-US" sz="2000" b="0" u="none" strike="noStrike">
              <a:solidFill>
                <a:srgbClr val="000000"/>
              </a:solidFill>
              <a:effectLst/>
              <a:uFillTx/>
              <a:latin typeface="Arial"/>
            </a:endParaRPr>
          </a:p>
        </p:txBody>
      </p:sp>
      <p:sp>
        <p:nvSpPr>
          <p:cNvPr id="95" name="PlaceHolder 3"/>
          <p:cNvSpPr>
            <a:spLocks noGrp="1"/>
          </p:cNvSpPr>
          <p:nvPr>
            <p:ph type="sldNum" idx="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0" y="0"/>
            <a:ext cx="0" cy="0"/>
          </a:xfrm>
          <a:prstGeom prst="rect">
            <a:avLst/>
          </a:prstGeom>
          <a:ln w="0">
            <a:noFill/>
          </a:ln>
        </p:spPr>
      </p:sp>
      <p:sp>
        <p:nvSpPr>
          <p:cNvPr id="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Local evidence includes 12 query/discovery unit tests and 6 seed-safety tests, 17 valid plus 10 invalid HTTP query cases, and 15 paginated result pages checked against independently calculated record IDs. The database query actually used limit 12 and the expected skip. Nine page states at five widths produced 45 responsive checks. Twenty WCAG 2/2.1 A/AA scans reported zero automated violations, which does not certify complete accessibility. Read-only testing preserved all 61 existing local listing hashes. Real uploads and successful credentialed account/CRUD mutations require additional integration testing, and independent live verification was blocked in the environment. Viva answers: EJS preserves the original server-rendered architecture. Filters run in MongoDB. Authentication identifies a user, while authorization checks ownership. Saved IDs live in browser localStorage. Stable seed IDs prevent duplicates. Booking/payment models, account-backed saves and categories are future scope.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Project sources: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https://github.com/Namansharma644/WanderLust/blob/c2f12175ac9457aa704d30e0015704dcc8634095/tests/listing-search.test.js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https://github.com/Namansharma644/WanderLust/blob/c2f12175ac9457aa704d30e0015704dcc8634095/tests/listing-discovery.test.js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https://github.com/Namansharma644/WanderLust/blob/c2f12175ac9457aa704d30e0015704dcc8634095/tests/demo-seed.test.js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https://github.com/Namansharma644/WanderLust/blob/c2f12175ac9457aa704d30e0015704dcc8634095/tests/listing-search.readonly.cjs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https://github.com/Namansharma644/WanderLust/blob/c2f12175ac9457aa704d30e0015704dcc8634095/tests/listing-discovery.readonly.cjs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https://github.com/Namansharma644/WanderLust/blob/c2f12175ac9457aa704d30e0015704dcc8634095/DISCOVERY_FEATURES.md</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https://wanderlusts-kjty.onrender.com/listings</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https://github.com/Namansharma644/WanderLust</a:t>
            </a:r>
            <a:endParaRPr lang="en-US" sz="2000" b="0" u="none" strike="noStrike">
              <a:solidFill>
                <a:srgbClr val="000000"/>
              </a:solidFill>
              <a:effectLst/>
              <a:uFillTx/>
              <a:latin typeface="Arial"/>
            </a:endParaRPr>
          </a:p>
        </p:txBody>
      </p:sp>
      <p:sp>
        <p:nvSpPr>
          <p:cNvPr id="98" name="PlaceHolder 3"/>
          <p:cNvSpPr>
            <a:spLocks noGrp="1"/>
          </p:cNvSpPr>
          <p:nvPr>
            <p:ph type="sldNum" idx="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19320" y="2857680"/>
            <a:ext cx="9753120" cy="1142640"/>
          </a:xfrm>
          <a:prstGeom prst="rect">
            <a:avLst/>
          </a:prstGeom>
          <a:noFill/>
          <a:ln w="0">
            <a:noFill/>
          </a:ln>
        </p:spPr>
        <p:txBody>
          <a:bodyPr lIns="0" tIns="0" rIns="0" bIns="0" anchor="ctr">
            <a:normAutofit/>
          </a:bodyPr>
          <a:lstStyle>
            <a:lvl1pPr indent="0" algn="l">
              <a:lnSpc>
                <a:spcPct val="90000"/>
              </a:lnSpc>
              <a:buNone/>
              <a:defRPr lang="en-US" sz="4200" b="0" u="none" strike="noStrike">
                <a:solidFill>
                  <a:schemeClr val="dk1"/>
                </a:solidFill>
                <a:effectLst/>
                <a:uFillTx/>
                <a:latin typeface="Aptos"/>
              </a:defRPr>
            </a:lvl1pPr>
          </a:lstStyle>
          <a:p>
            <a:pPr indent="0" algn="l">
              <a:lnSpc>
                <a:spcPct val="90000"/>
              </a:lnSpc>
              <a:buNone/>
            </a:pPr>
            <a:r>
              <a:rPr lang="en-US" sz="4200" b="0" u="none" strike="noStrike">
                <a:solidFill>
                  <a:schemeClr val="dk1"/>
                </a:solidFill>
                <a:effectLst/>
                <a:uFillTx/>
                <a:latin typeface="Aptos"/>
              </a:rPr>
              <a:t>Click to edit the title text format</a:t>
            </a:r>
            <a:endParaRPr lang="en-US" sz="42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Two Column">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n-US" sz="3300" b="0" u="none" strike="noStrike">
                <a:solidFill>
                  <a:schemeClr val="dk1"/>
                </a:solidFill>
                <a:effectLst/>
                <a:uFillTx/>
                <a:latin typeface="Aptos"/>
              </a:defRPr>
            </a:lvl1pPr>
          </a:lstStyle>
          <a:p>
            <a:pPr indent="0" algn="l">
              <a:lnSpc>
                <a:spcPct val="90000"/>
              </a:lnSpc>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4" name="PlaceHolder 2"/>
          <p:cNvSpPr>
            <a:spLocks noGrp="1"/>
          </p:cNvSpPr>
          <p:nvPr>
            <p:ph type="body"/>
          </p:nvPr>
        </p:nvSpPr>
        <p:spPr>
          <a:xfrm>
            <a:off x="68580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1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1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1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1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100" b="0" u="none" strike="noStrike">
                <a:solidFill>
                  <a:schemeClr val="dk1"/>
                </a:solidFill>
                <a:effectLst/>
                <a:uFillTx/>
                <a:latin typeface="Aptos"/>
              </a:rPr>
              <a:t>Second Outline Level</a:t>
            </a:r>
            <a:endParaRPr lang="en-US"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100" b="0" u="none" strike="noStrike">
                <a:solidFill>
                  <a:schemeClr val="dk1"/>
                </a:solidFill>
                <a:effectLst/>
                <a:uFillTx/>
                <a:latin typeface="Aptos"/>
              </a:rPr>
              <a:t>Third Outline Level</a:t>
            </a:r>
            <a:endParaRPr lang="en-US"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100" b="0" u="none" strike="noStrike">
                <a:solidFill>
                  <a:schemeClr val="dk1"/>
                </a:solidFill>
                <a:effectLst/>
                <a:uFillTx/>
                <a:latin typeface="Aptos"/>
              </a:rPr>
              <a:t>Fourth Outline Level</a:t>
            </a:r>
            <a:endParaRPr lang="en-US"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Fifth Outline Level</a:t>
            </a:r>
            <a:endParaRPr lang="en-US"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Sixth Outline Level</a:t>
            </a:r>
            <a:endParaRPr lang="en-US"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Seventh Outline Level</a:t>
            </a:r>
            <a:endParaRPr lang="en-US" sz="2100" b="0" u="none" strike="noStrike">
              <a:solidFill>
                <a:schemeClr val="dk1"/>
              </a:solidFill>
              <a:effectLst/>
              <a:uFillTx/>
              <a:latin typeface="Aptos"/>
            </a:endParaRPr>
          </a:p>
        </p:txBody>
      </p:sp>
      <p:sp>
        <p:nvSpPr>
          <p:cNvPr id="5" name="PlaceHolder 3"/>
          <p:cNvSpPr>
            <a:spLocks noGrp="1"/>
          </p:cNvSpPr>
          <p:nvPr>
            <p:ph type="body"/>
          </p:nvPr>
        </p:nvSpPr>
        <p:spPr>
          <a:xfrm>
            <a:off x="647712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1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1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1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1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10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100" b="0" u="none" strike="noStrike">
                <a:solidFill>
                  <a:schemeClr val="dk1"/>
                </a:solidFill>
                <a:effectLst/>
                <a:uFillTx/>
                <a:latin typeface="Aptos"/>
              </a:rPr>
              <a:t>Second Outline Level</a:t>
            </a:r>
            <a:endParaRPr lang="en-US" sz="210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100" b="0" u="none" strike="noStrike">
                <a:solidFill>
                  <a:schemeClr val="dk1"/>
                </a:solidFill>
                <a:effectLst/>
                <a:uFillTx/>
                <a:latin typeface="Aptos"/>
              </a:rPr>
              <a:t>Third Outline Level</a:t>
            </a:r>
            <a:endParaRPr lang="en-US" sz="210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100" b="0" u="none" strike="noStrike">
                <a:solidFill>
                  <a:schemeClr val="dk1"/>
                </a:solidFill>
                <a:effectLst/>
                <a:uFillTx/>
                <a:latin typeface="Aptos"/>
              </a:rPr>
              <a:t>Fourth Outline Level</a:t>
            </a:r>
            <a:endParaRPr lang="en-US" sz="210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Fifth Outline Level</a:t>
            </a:r>
            <a:endParaRPr lang="en-US" sz="210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Sixth Outline Level</a:t>
            </a:r>
            <a:endParaRPr lang="en-US" sz="210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100" b="0" u="none" strike="noStrike">
                <a:solidFill>
                  <a:schemeClr val="dk1"/>
                </a:solidFill>
                <a:effectLst/>
                <a:uFillTx/>
                <a:latin typeface="Aptos"/>
              </a:rPr>
              <a:t>Seventh Outline Level</a:t>
            </a:r>
            <a:endParaRPr lang="en-US" sz="2100" b="0" u="none" strike="noStrike">
              <a:solidFill>
                <a:schemeClr val="dk1"/>
              </a:solidFill>
              <a:effectLst/>
              <a:uFillTx/>
              <a:latin typeface="Aptos"/>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lnSpc>
                <a:spcPct val="90000"/>
              </a:lnSpc>
              <a:buNone/>
              <a:defRPr lang="en-US" sz="4400" b="0" u="none" strike="noStrike">
                <a:solidFill>
                  <a:schemeClr val="dk1"/>
                </a:solidFill>
                <a:effectLst/>
                <a:uFillTx/>
                <a:latin typeface="Aptos"/>
              </a:defRPr>
            </a:lvl1pPr>
          </a:lstStyle>
          <a:p>
            <a:pPr indent="0" algn="l">
              <a:lnSpc>
                <a:spcPct val="90000"/>
              </a:lnSpc>
              <a:buNone/>
            </a:pPr>
            <a:r>
              <a:rPr lang="en-US" sz="4400" b="0" u="none" strike="noStrike">
                <a:solidFill>
                  <a:schemeClr val="dk1"/>
                </a:solidFill>
                <a:effectLst/>
                <a:uFillTx/>
                <a:latin typeface="Aptos"/>
              </a:rPr>
              <a:t>Click to edit the title text format</a:t>
            </a:r>
            <a:endParaRPr lang="en-US" sz="4400" b="0" u="none" strike="noStrike">
              <a:solidFill>
                <a:schemeClr val="dk1"/>
              </a:solidFill>
              <a:effectLst/>
              <a:uFillTx/>
              <a:latin typeface="Aptos"/>
            </a:endParaRPr>
          </a:p>
        </p:txBody>
      </p:sp>
      <p:sp>
        <p:nvSpPr>
          <p:cNvPr id="7"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80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00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180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180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432000" indent="-324000" algn="l">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algn="l">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algn="l">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n-US" sz="3300" b="0" u="none" strike="noStrike">
                <a:solidFill>
                  <a:schemeClr val="dk1"/>
                </a:solidFill>
                <a:effectLst/>
                <a:uFillTx/>
                <a:latin typeface="Aptos"/>
              </a:defRPr>
            </a:lvl1pPr>
          </a:lstStyle>
          <a:p>
            <a:pPr indent="0" algn="l">
              <a:lnSpc>
                <a:spcPct val="90000"/>
              </a:lnSpc>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9" name="PlaceHolder 2"/>
          <p:cNvSpPr>
            <a:spLocks noGrp="1"/>
          </p:cNvSpPr>
          <p:nvPr>
            <p:ph type="body"/>
          </p:nvPr>
        </p:nvSpPr>
        <p:spPr>
          <a:xfrm>
            <a:off x="685800" y="1905120"/>
            <a:ext cx="1082016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25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25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25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25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250" b="0" u="none" strike="noStrike">
                <a:solidFill>
                  <a:schemeClr val="dk1"/>
                </a:solidFill>
                <a:effectLst/>
                <a:uFillTx/>
                <a:latin typeface="Aptos"/>
              </a:rPr>
              <a:t>Click to edit the outline text format</a:t>
            </a:r>
            <a:endParaRPr lang="en-US"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250" b="0" u="none" strike="noStrike">
                <a:solidFill>
                  <a:schemeClr val="dk1"/>
                </a:solidFill>
                <a:effectLst/>
                <a:uFillTx/>
                <a:latin typeface="Aptos"/>
              </a:rPr>
              <a:t>Second Outline Level</a:t>
            </a:r>
            <a:endParaRPr lang="en-US"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250" b="0" u="none" strike="noStrike">
                <a:solidFill>
                  <a:schemeClr val="dk1"/>
                </a:solidFill>
                <a:effectLst/>
                <a:uFillTx/>
                <a:latin typeface="Aptos"/>
              </a:rPr>
              <a:t>Third Outline Level</a:t>
            </a:r>
            <a:endParaRPr lang="en-US"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250" b="0" u="none" strike="noStrike">
                <a:solidFill>
                  <a:schemeClr val="dk1"/>
                </a:solidFill>
                <a:effectLst/>
                <a:uFillTx/>
                <a:latin typeface="Aptos"/>
              </a:rPr>
              <a:t>Fourth Outline Level</a:t>
            </a:r>
            <a:endParaRPr lang="en-US"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Fifth Outline Level</a:t>
            </a:r>
            <a:endParaRPr lang="en-US"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Sixth Outline Level</a:t>
            </a:r>
            <a:endParaRPr lang="en-US"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Seventh Outline Level</a:t>
            </a:r>
            <a:endParaRPr lang="en-US" sz="225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1219320" y="2590920"/>
            <a:ext cx="9753120" cy="990360"/>
          </a:xfrm>
          <a:prstGeom prst="rect">
            <a:avLst/>
          </a:prstGeom>
          <a:noFill/>
          <a:ln w="0">
            <a:noFill/>
          </a:ln>
        </p:spPr>
        <p:txBody>
          <a:bodyPr lIns="0" tIns="0" rIns="0" bIns="0" anchor="ctr">
            <a:normAutofit/>
          </a:bodyPr>
          <a:lstStyle>
            <a:lvl1pPr indent="0" algn="l">
              <a:lnSpc>
                <a:spcPct val="90000"/>
              </a:lnSpc>
              <a:buNone/>
              <a:defRPr lang="en-US" sz="4800" b="0" u="none" strike="noStrike">
                <a:solidFill>
                  <a:schemeClr val="dk1"/>
                </a:solidFill>
                <a:effectLst/>
                <a:uFillTx/>
                <a:latin typeface="Aptos"/>
              </a:defRPr>
            </a:lvl1pPr>
          </a:lstStyle>
          <a:p>
            <a:pPr indent="0" algn="l">
              <a:lnSpc>
                <a:spcPct val="90000"/>
              </a:lnSpc>
              <a:buNone/>
            </a:pPr>
            <a:r>
              <a:rPr lang="en-US" sz="4800" b="0" u="none" strike="noStrike">
                <a:solidFill>
                  <a:schemeClr val="dk1"/>
                </a:solidFill>
                <a:effectLst/>
                <a:uFillTx/>
                <a:latin typeface="Aptos"/>
              </a:rPr>
              <a:t>Click to edit the title text format</a:t>
            </a:r>
            <a:endParaRPr lang="en-US" sz="4800" b="0" u="none" strike="noStrike">
              <a:solidFill>
                <a:schemeClr val="dk1"/>
              </a:solidFill>
              <a:effectLst/>
              <a:uFillTx/>
              <a:latin typeface="Aptos"/>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One Column">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85800" y="533520"/>
            <a:ext cx="10820160" cy="837720"/>
          </a:xfrm>
          <a:prstGeom prst="rect">
            <a:avLst/>
          </a:prstGeom>
          <a:noFill/>
          <a:ln w="0">
            <a:noFill/>
          </a:ln>
        </p:spPr>
        <p:txBody>
          <a:bodyPr lIns="0" tIns="0" rIns="0" bIns="0" anchor="t">
            <a:normAutofit/>
          </a:bodyPr>
          <a:lstStyle>
            <a:lvl1pPr indent="0" algn="l">
              <a:lnSpc>
                <a:spcPct val="90000"/>
              </a:lnSpc>
              <a:buNone/>
              <a:defRPr lang="en-US" sz="3300" b="0" u="none" strike="noStrike">
                <a:solidFill>
                  <a:schemeClr val="dk1"/>
                </a:solidFill>
                <a:effectLst/>
                <a:uFillTx/>
                <a:latin typeface="Aptos"/>
              </a:defRPr>
            </a:lvl1pPr>
          </a:lstStyle>
          <a:p>
            <a:pPr indent="0" algn="l">
              <a:lnSpc>
                <a:spcPct val="90000"/>
              </a:lnSpc>
              <a:buNone/>
            </a:pPr>
            <a:r>
              <a:rPr lang="en-US" sz="3300" b="0" u="none" strike="noStrike">
                <a:solidFill>
                  <a:schemeClr val="dk1"/>
                </a:solidFill>
                <a:effectLst/>
                <a:uFillTx/>
                <a:latin typeface="Aptos"/>
              </a:rPr>
              <a:t>Click to edit the title text format</a:t>
            </a:r>
            <a:endParaRPr lang="en-US" sz="3300" b="0" u="none" strike="noStrike">
              <a:solidFill>
                <a:schemeClr val="dk1"/>
              </a:solidFill>
              <a:effectLst/>
              <a:uFillTx/>
              <a:latin typeface="Aptos"/>
            </a:endParaRPr>
          </a:p>
        </p:txBody>
      </p:sp>
      <p:sp>
        <p:nvSpPr>
          <p:cNvPr id="12" name="PlaceHolder 2"/>
          <p:cNvSpPr>
            <a:spLocks noGrp="1"/>
          </p:cNvSpPr>
          <p:nvPr>
            <p:ph type="body"/>
          </p:nvPr>
        </p:nvSpPr>
        <p:spPr>
          <a:xfrm>
            <a:off x="685800" y="1905120"/>
            <a:ext cx="5028840" cy="4266720"/>
          </a:xfrm>
          <a:prstGeom prst="rect">
            <a:avLst/>
          </a:prstGeom>
          <a:noFill/>
          <a:ln w="0">
            <a:noFill/>
          </a:ln>
        </p:spPr>
        <p:txBody>
          <a:bodyPr lIns="0" tIns="0" rIns="0" bIns="0" anchor="t">
            <a:normAutofit/>
          </a:bodyPr>
          <a:lstStyle>
            <a:lvl1pPr algn="l">
              <a:lnSpc>
                <a:spcPct val="90000"/>
              </a:lnSpc>
              <a:spcBef>
                <a:spcPts val="1417"/>
              </a:spcBef>
              <a:buClr>
                <a:srgbClr val="000000"/>
              </a:buClr>
              <a:buSzPct val="45000"/>
              <a:buFont typeface="Wingdings" charset="2"/>
              <a:buChar char=""/>
              <a:defRPr lang="en-US" sz="2250" b="0" u="none" strike="noStrike">
                <a:solidFill>
                  <a:schemeClr val="dk1"/>
                </a:solidFill>
                <a:effectLst/>
                <a:uFillTx/>
                <a:latin typeface="Aptos"/>
              </a:defRPr>
            </a:lvl1pPr>
            <a:lvl2pPr lvl="1" algn="l">
              <a:lnSpc>
                <a:spcPct val="90000"/>
              </a:lnSpc>
              <a:spcBef>
                <a:spcPts val="1134"/>
              </a:spcBef>
              <a:buClr>
                <a:srgbClr val="000000"/>
              </a:buClr>
              <a:buSzPct val="75000"/>
              <a:buFont typeface="Symbol" charset="2"/>
              <a:buChar char=""/>
              <a:defRPr lang="en-US" sz="2250" b="0" u="none" strike="noStrike">
                <a:solidFill>
                  <a:schemeClr val="dk1"/>
                </a:solidFill>
                <a:effectLst/>
                <a:uFillTx/>
                <a:latin typeface="Aptos"/>
              </a:defRPr>
            </a:lvl2pPr>
            <a:lvl3pPr lvl="2" algn="l">
              <a:lnSpc>
                <a:spcPct val="90000"/>
              </a:lnSpc>
              <a:spcBef>
                <a:spcPts val="850"/>
              </a:spcBef>
              <a:buClr>
                <a:srgbClr val="000000"/>
              </a:buClr>
              <a:buSzPct val="45000"/>
              <a:buFont typeface="Wingdings" charset="2"/>
              <a:buChar char=""/>
              <a:defRPr lang="en-US" sz="2250" b="0" u="none" strike="noStrike">
                <a:solidFill>
                  <a:schemeClr val="dk1"/>
                </a:solidFill>
                <a:effectLst/>
                <a:uFillTx/>
                <a:latin typeface="Aptos"/>
              </a:defRPr>
            </a:lvl3pPr>
            <a:lvl4pPr lvl="3" algn="l">
              <a:lnSpc>
                <a:spcPct val="90000"/>
              </a:lnSpc>
              <a:spcBef>
                <a:spcPts val="567"/>
              </a:spcBef>
              <a:buClr>
                <a:srgbClr val="000000"/>
              </a:buClr>
              <a:buSzPct val="75000"/>
              <a:buFont typeface="Symbol" charset="2"/>
              <a:buChar char=""/>
              <a:defRPr lang="en-US" sz="2250" b="0" u="none" strike="noStrike">
                <a:solidFill>
                  <a:schemeClr val="dk1"/>
                </a:solidFill>
                <a:effectLst/>
                <a:uFillTx/>
                <a:latin typeface="Aptos"/>
              </a:defRPr>
            </a:lvl4pPr>
            <a:lvl5pPr lvl="4"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5pPr>
            <a:lvl6pPr lvl="5"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6pPr>
            <a:lvl7pPr lvl="6" algn="l">
              <a:lnSpc>
                <a:spcPct val="90000"/>
              </a:lnSpc>
              <a:spcBef>
                <a:spcPts val="283"/>
              </a:spcBef>
              <a:buClr>
                <a:srgbClr val="000000"/>
              </a:buClr>
              <a:buSzPct val="45000"/>
              <a:buFont typeface="Wingdings" charset="2"/>
              <a:buChar char=""/>
              <a:defRPr lang="en-US" sz="2250" b="0" u="none" strike="noStrike">
                <a:solidFill>
                  <a:schemeClr val="dk1"/>
                </a:solidFill>
                <a:effectLst/>
                <a:uFillTx/>
                <a:latin typeface="Aptos"/>
              </a:defRPr>
            </a:lvl7pPr>
          </a:lstStyle>
          <a:p>
            <a:pPr marL="228600" indent="-228600" algn="l">
              <a:lnSpc>
                <a:spcPct val="90000"/>
              </a:lnSpc>
              <a:spcBef>
                <a:spcPts val="1417"/>
              </a:spcBef>
              <a:buClr>
                <a:srgbClr val="000000"/>
              </a:buClr>
              <a:buSzPct val="45000"/>
              <a:buFont typeface="Wingdings" charset="2"/>
              <a:buChar char=""/>
            </a:pPr>
            <a:r>
              <a:rPr lang="en-US" sz="2250" b="0" u="none" strike="noStrike">
                <a:solidFill>
                  <a:schemeClr val="dk1"/>
                </a:solidFill>
                <a:effectLst/>
                <a:uFillTx/>
                <a:latin typeface="Aptos"/>
              </a:rPr>
              <a:t>Click to edit the outline text format</a:t>
            </a:r>
            <a:endParaRPr lang="en-US" sz="2250" b="0" u="none" strike="noStrike">
              <a:solidFill>
                <a:schemeClr val="dk1"/>
              </a:solidFill>
              <a:effectLst/>
              <a:uFillTx/>
              <a:latin typeface="Aptos"/>
            </a:endParaRPr>
          </a:p>
          <a:p>
            <a:pPr marL="533520" lvl="1" indent="-228600" algn="l">
              <a:lnSpc>
                <a:spcPct val="90000"/>
              </a:lnSpc>
              <a:spcBef>
                <a:spcPts val="1134"/>
              </a:spcBef>
              <a:buClr>
                <a:srgbClr val="000000"/>
              </a:buClr>
              <a:buSzPct val="75000"/>
              <a:buFont typeface="Symbol" charset="2"/>
              <a:buChar char=""/>
            </a:pPr>
            <a:r>
              <a:rPr lang="en-US" sz="2250" b="0" u="none" strike="noStrike">
                <a:solidFill>
                  <a:schemeClr val="dk1"/>
                </a:solidFill>
                <a:effectLst/>
                <a:uFillTx/>
                <a:latin typeface="Aptos"/>
              </a:rPr>
              <a:t>Second Outline Level</a:t>
            </a:r>
            <a:endParaRPr lang="en-US" sz="2250" b="0" u="none" strike="noStrike">
              <a:solidFill>
                <a:schemeClr val="dk1"/>
              </a:solidFill>
              <a:effectLst/>
              <a:uFillTx/>
              <a:latin typeface="Aptos"/>
            </a:endParaRPr>
          </a:p>
          <a:p>
            <a:pPr marL="838080" lvl="2" indent="-228600" algn="l">
              <a:lnSpc>
                <a:spcPct val="90000"/>
              </a:lnSpc>
              <a:spcBef>
                <a:spcPts val="850"/>
              </a:spcBef>
              <a:buClr>
                <a:srgbClr val="000000"/>
              </a:buClr>
              <a:buSzPct val="45000"/>
              <a:buFont typeface="Wingdings" charset="2"/>
              <a:buChar char=""/>
            </a:pPr>
            <a:r>
              <a:rPr lang="en-US" sz="2250" b="0" u="none" strike="noStrike">
                <a:solidFill>
                  <a:schemeClr val="dk1"/>
                </a:solidFill>
                <a:effectLst/>
                <a:uFillTx/>
                <a:latin typeface="Aptos"/>
              </a:rPr>
              <a:t>Third Outline Level</a:t>
            </a:r>
            <a:endParaRPr lang="en-US" sz="2250" b="0" u="none" strike="noStrike">
              <a:solidFill>
                <a:schemeClr val="dk1"/>
              </a:solidFill>
              <a:effectLst/>
              <a:uFillTx/>
              <a:latin typeface="Aptos"/>
            </a:endParaRPr>
          </a:p>
          <a:p>
            <a:pPr marL="1143000" lvl="3" indent="-228600" algn="l">
              <a:lnSpc>
                <a:spcPct val="90000"/>
              </a:lnSpc>
              <a:spcBef>
                <a:spcPts val="567"/>
              </a:spcBef>
              <a:buClr>
                <a:srgbClr val="000000"/>
              </a:buClr>
              <a:buSzPct val="75000"/>
              <a:buFont typeface="Symbol" charset="2"/>
              <a:buChar char=""/>
            </a:pPr>
            <a:r>
              <a:rPr lang="en-US" sz="2250" b="0" u="none" strike="noStrike">
                <a:solidFill>
                  <a:schemeClr val="dk1"/>
                </a:solidFill>
                <a:effectLst/>
                <a:uFillTx/>
                <a:latin typeface="Aptos"/>
              </a:rPr>
              <a:t>Fourth Outline Level</a:t>
            </a:r>
            <a:endParaRPr lang="en-US" sz="2250" b="0" u="none" strike="noStrike">
              <a:solidFill>
                <a:schemeClr val="dk1"/>
              </a:solidFill>
              <a:effectLst/>
              <a:uFillTx/>
              <a:latin typeface="Aptos"/>
            </a:endParaRPr>
          </a:p>
          <a:p>
            <a:pPr marL="1447920" lvl="4"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Fifth Outline Level</a:t>
            </a:r>
            <a:endParaRPr lang="en-US" sz="2250" b="0" u="none" strike="noStrike">
              <a:solidFill>
                <a:schemeClr val="dk1"/>
              </a:solidFill>
              <a:effectLst/>
              <a:uFillTx/>
              <a:latin typeface="Aptos"/>
            </a:endParaRPr>
          </a:p>
          <a:p>
            <a:pPr marL="1752480" lvl="5"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Sixth Outline Level</a:t>
            </a:r>
            <a:endParaRPr lang="en-US" sz="2250" b="0" u="none" strike="noStrike">
              <a:solidFill>
                <a:schemeClr val="dk1"/>
              </a:solidFill>
              <a:effectLst/>
              <a:uFillTx/>
              <a:latin typeface="Aptos"/>
            </a:endParaRPr>
          </a:p>
          <a:p>
            <a:pPr marL="2057400" lvl="6" indent="-228600" algn="l">
              <a:lnSpc>
                <a:spcPct val="90000"/>
              </a:lnSpc>
              <a:spcBef>
                <a:spcPts val="283"/>
              </a:spcBef>
              <a:buClr>
                <a:srgbClr val="000000"/>
              </a:buClr>
              <a:buSzPct val="45000"/>
              <a:buFont typeface="Wingdings" charset="2"/>
              <a:buChar char=""/>
            </a:pPr>
            <a:r>
              <a:rPr lang="en-US" sz="2250" b="0" u="none" strike="noStrike">
                <a:solidFill>
                  <a:schemeClr val="dk1"/>
                </a:solidFill>
                <a:effectLst/>
                <a:uFillTx/>
                <a:latin typeface="Aptos"/>
              </a:rPr>
              <a:t>Seventh Outline Level</a:t>
            </a:r>
            <a:endParaRPr lang="en-US" sz="225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3.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hyperlink" Target="https://wanderlusts-kjty.onrender.com/listings" TargetMode="External"/><Relationship Id="rId2" Type="http://schemas.openxmlformats.org/officeDocument/2006/relationships/hyperlink" Target="https://github.com/Namansharma644/WanderLust" TargetMode="External"/><Relationship Id="rId3" Type="http://schemas.openxmlformats.org/officeDocument/2006/relationships/slideLayout" Target="../slideLayouts/slideLayout3.xml"/><Relationship Id="rId4" Type="http://schemas.openxmlformats.org/officeDocument/2006/relationships/notesSlide" Target="../notesSlides/notesSlide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6"/>
        </a:solidFill>
      </p:bgPr>
    </p:bg>
    <p:spTree>
      <p:nvGrpSpPr>
        <p:cNvPr id="1" name=""/>
        <p:cNvGrpSpPr/>
        <p:nvPr/>
      </p:nvGrpSpPr>
      <p:grpSpPr>
        <a:xfrm>
          <a:off x="0" y="0"/>
          <a:ext cx="0" cy="0"/>
          <a:chOff x="0" y="0"/>
          <a:chExt cx="0" cy="0"/>
        </a:xfrm>
      </p:grpSpPr>
      <p:pic>
        <p:nvPicPr>
          <p:cNvPr id="19" name=""/>
          <p:cNvPicPr/>
          <p:nvPr/>
        </p:nvPicPr>
        <p:blipFill>
          <a:blip r:embed="rId1"/>
          <a:srcRect l="30457" t="0" r="30457" b="0"/>
          <a:stretch/>
        </p:blipFill>
        <p:spPr>
          <a:xfrm>
            <a:off x="7905600" y="0"/>
            <a:ext cx="4285800" cy="6857640"/>
          </a:xfrm>
          <a:prstGeom prst="rect">
            <a:avLst/>
          </a:prstGeom>
          <a:noFill/>
          <a:ln w="0">
            <a:noFill/>
          </a:ln>
        </p:spPr>
      </p:pic>
      <p:sp>
        <p:nvSpPr>
          <p:cNvPr id="20" name="cover-kicker"/>
          <p:cNvSpPr/>
          <p:nvPr/>
        </p:nvSpPr>
        <p:spPr>
          <a:xfrm>
            <a:off x="609480" y="704880"/>
            <a:ext cx="6905160" cy="3427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500" b="1" u="none" strike="noStrike">
                <a:solidFill>
                  <a:srgbClr val="A94E3B"/>
                </a:solidFill>
                <a:effectLst/>
                <a:uFillTx/>
                <a:latin typeface="Arial"/>
                <a:ea typeface="Arial"/>
              </a:rPr>
              <a:t>THIRD YEAR MINI PROJECT 2025–26</a:t>
            </a:r>
            <a:endParaRPr lang="en-US" sz="1500" b="0" u="none" strike="noStrike">
              <a:solidFill>
                <a:srgbClr val="000000"/>
              </a:solidFill>
              <a:effectLst/>
              <a:uFillTx/>
              <a:latin typeface="Arial"/>
            </a:endParaRPr>
          </a:p>
        </p:txBody>
      </p:sp>
      <p:sp>
        <p:nvSpPr>
          <p:cNvPr id="21" name="cover-title"/>
          <p:cNvSpPr/>
          <p:nvPr/>
        </p:nvSpPr>
        <p:spPr>
          <a:xfrm>
            <a:off x="571680" y="1380960"/>
            <a:ext cx="7238520" cy="1047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6450" b="1" u="none" strike="noStrike">
                <a:solidFill>
                  <a:srgbClr val="292D28"/>
                </a:solidFill>
                <a:effectLst/>
                <a:uFillTx/>
                <a:latin typeface="Arial"/>
                <a:ea typeface="Arial"/>
              </a:rPr>
              <a:t>WanderLust</a:t>
            </a:r>
            <a:endParaRPr lang="en-US" sz="6450" b="0" u="none" strike="noStrike">
              <a:solidFill>
                <a:srgbClr val="000000"/>
              </a:solidFill>
              <a:effectLst/>
              <a:uFillTx/>
              <a:latin typeface="Arial"/>
            </a:endParaRPr>
          </a:p>
        </p:txBody>
      </p:sp>
      <p:sp>
        <p:nvSpPr>
          <p:cNvPr id="22" name="cover-subtitle"/>
          <p:cNvSpPr/>
          <p:nvPr/>
        </p:nvSpPr>
        <p:spPr>
          <a:xfrm>
            <a:off x="609480" y="2523960"/>
            <a:ext cx="6667200" cy="9522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620" b="0" u="none" strike="noStrike">
                <a:solidFill>
                  <a:srgbClr val="292D28"/>
                </a:solidFill>
                <a:effectLst/>
                <a:uFillTx/>
                <a:latin typeface="Arial"/>
                <a:ea typeface="Arial"/>
              </a:rPr>
              <a:t>Travel stay discovery</a:t>
            </a:r>
            <a:endParaRPr lang="en-US" sz="2620" b="0" u="none" strike="noStrike">
              <a:solidFill>
                <a:srgbClr val="000000"/>
              </a:solidFill>
              <a:effectLst/>
              <a:uFillTx/>
              <a:latin typeface="Arial"/>
            </a:endParaRPr>
          </a:p>
          <a:p>
            <a:pPr>
              <a:lnSpc>
                <a:spcPct val="100000"/>
              </a:lnSpc>
            </a:pPr>
            <a:r>
              <a:rPr lang="en-US" sz="2620" b="0" u="none" strike="noStrike">
                <a:solidFill>
                  <a:srgbClr val="292D28"/>
                </a:solidFill>
                <a:effectLst/>
                <a:uFillTx/>
                <a:latin typeface="Arial"/>
                <a:ea typeface="Arial"/>
              </a:rPr>
              <a:t>and listing platform</a:t>
            </a:r>
            <a:endParaRPr lang="en-US" sz="2620" b="0" u="none" strike="noStrike">
              <a:solidFill>
                <a:srgbClr val="000000"/>
              </a:solidFill>
              <a:effectLst/>
              <a:uFillTx/>
              <a:latin typeface="Arial"/>
            </a:endParaRPr>
          </a:p>
        </p:txBody>
      </p:sp>
      <p:sp>
        <p:nvSpPr>
          <p:cNvPr id="23" name="cover-team"/>
          <p:cNvSpPr/>
          <p:nvPr/>
        </p:nvSpPr>
        <p:spPr>
          <a:xfrm>
            <a:off x="609480" y="3828960"/>
            <a:ext cx="3190680" cy="3805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1" u="none" strike="noStrike">
                <a:solidFill>
                  <a:srgbClr val="292D28"/>
                </a:solidFill>
                <a:effectLst/>
                <a:uFillTx/>
                <a:latin typeface="Arial"/>
                <a:ea typeface="Arial"/>
              </a:rPr>
              <a:t>Naman Sharma</a:t>
            </a:r>
            <a:endParaRPr lang="en-US" sz="2020" b="0" u="none" strike="noStrike">
              <a:solidFill>
                <a:srgbClr val="000000"/>
              </a:solidFill>
              <a:effectLst/>
              <a:uFillTx/>
              <a:latin typeface="Arial"/>
            </a:endParaRPr>
          </a:p>
        </p:txBody>
      </p:sp>
      <p:sp>
        <p:nvSpPr>
          <p:cNvPr id="24" name="cover-institute"/>
          <p:cNvSpPr/>
          <p:nvPr/>
        </p:nvSpPr>
        <p:spPr>
          <a:xfrm>
            <a:off x="609480" y="5600880"/>
            <a:ext cx="6905160" cy="3805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62665D"/>
                </a:solidFill>
                <a:effectLst/>
                <a:uFillTx/>
                <a:latin typeface="Arial"/>
                <a:ea typeface="Arial"/>
              </a:rPr>
              <a:t>Shri Ram Group of Colleges</a:t>
            </a:r>
            <a:endParaRPr lang="en-US" sz="1870" b="0" u="none" strike="noStrike">
              <a:solidFill>
                <a:srgbClr val="000000"/>
              </a:solidFill>
              <a:effectLst/>
              <a:uFillTx/>
              <a:latin typeface="Arial"/>
            </a:endParaRPr>
          </a:p>
        </p:txBody>
      </p:sp>
      <p:sp>
        <p:nvSpPr>
          <p:cNvPr id="25" name="naman-roll"/>
          <p:cNvSpPr/>
          <p:nvPr/>
        </p:nvSpPr>
        <p:spPr>
          <a:xfrm>
            <a:off x="609480" y="4248000"/>
            <a:ext cx="319068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62665D"/>
                </a:solidFill>
                <a:effectLst/>
                <a:uFillTx/>
                <a:latin typeface="Arial"/>
                <a:ea typeface="Arial"/>
              </a:rPr>
              <a:t>2406950100108</a:t>
            </a:r>
            <a:endParaRPr lang="en-US" sz="1729" b="0" u="none" strike="noStrike">
              <a:solidFill>
                <a:srgbClr val="000000"/>
              </a:solidFill>
              <a:effectLst/>
              <a:uFillTx/>
              <a:latin typeface="Arial"/>
            </a:endParaRPr>
          </a:p>
        </p:txBody>
      </p:sp>
      <p:sp>
        <p:nvSpPr>
          <p:cNvPr id="26" name="prerak-name"/>
          <p:cNvSpPr/>
          <p:nvPr/>
        </p:nvSpPr>
        <p:spPr>
          <a:xfrm>
            <a:off x="3905280" y="3828960"/>
            <a:ext cx="3190680" cy="3805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1" u="none" strike="noStrike">
                <a:solidFill>
                  <a:srgbClr val="292D28"/>
                </a:solidFill>
                <a:effectLst/>
                <a:uFillTx/>
                <a:latin typeface="Arial"/>
                <a:ea typeface="Arial"/>
              </a:rPr>
              <a:t>Prerak</a:t>
            </a:r>
            <a:endParaRPr lang="en-US" sz="2020" b="0" u="none" strike="noStrike">
              <a:solidFill>
                <a:srgbClr val="000000"/>
              </a:solidFill>
              <a:effectLst/>
              <a:uFillTx/>
              <a:latin typeface="Arial"/>
            </a:endParaRPr>
          </a:p>
        </p:txBody>
      </p:sp>
      <p:sp>
        <p:nvSpPr>
          <p:cNvPr id="27" name="prerak-roll"/>
          <p:cNvSpPr/>
          <p:nvPr/>
        </p:nvSpPr>
        <p:spPr>
          <a:xfrm>
            <a:off x="3905280" y="4248000"/>
            <a:ext cx="319068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62665D"/>
                </a:solidFill>
                <a:effectLst/>
                <a:uFillTx/>
                <a:latin typeface="Arial"/>
                <a:ea typeface="Arial"/>
              </a:rPr>
              <a:t>2406950100127</a:t>
            </a:r>
            <a:endParaRPr lang="en-US" sz="1729" b="0" u="none" strike="noStrike">
              <a:solidFill>
                <a:srgbClr val="000000"/>
              </a:solidFill>
              <a:effectLst/>
              <a:uFillTx/>
              <a:latin typeface="Arial"/>
            </a:endParaRPr>
          </a:p>
        </p:txBody>
      </p:sp>
      <p:sp>
        <p:nvSpPr>
          <p:cNvPr id="28" name="faculty-guide"/>
          <p:cNvSpPr/>
          <p:nvPr/>
        </p:nvSpPr>
        <p:spPr>
          <a:xfrm>
            <a:off x="609480" y="4905360"/>
            <a:ext cx="6857640" cy="3805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Faculty guide: Tanu Verma</a:t>
            </a:r>
            <a:endParaRPr lang="en-US" sz="187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6"/>
        </a:solidFill>
      </p:bgPr>
    </p:bg>
    <p:spTree>
      <p:nvGrpSpPr>
        <p:cNvPr id="1" name=""/>
        <p:cNvGrpSpPr/>
        <p:nvPr/>
      </p:nvGrpSpPr>
      <p:grpSpPr>
        <a:xfrm>
          <a:off x="0" y="0"/>
          <a:ext cx="0" cy="0"/>
          <a:chOff x="0" y="0"/>
          <a:chExt cx="0" cy="0"/>
        </a:xfrm>
      </p:grpSpPr>
      <p:sp>
        <p:nvSpPr>
          <p:cNvPr id="29" name="slide-title"/>
          <p:cNvSpPr/>
          <p:nvPr/>
        </p:nvSpPr>
        <p:spPr>
          <a:xfrm>
            <a:off x="609480" y="399960"/>
            <a:ext cx="1097244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00" b="1" u="none" strike="noStrike">
                <a:solidFill>
                  <a:srgbClr val="292D28"/>
                </a:solidFill>
                <a:effectLst/>
                <a:uFillTx/>
                <a:latin typeface="Arial"/>
                <a:ea typeface="Arial"/>
              </a:rPr>
              <a:t>Problem, objectives and scope</a:t>
            </a:r>
            <a:endParaRPr lang="en-US" sz="3300" b="0" u="none" strike="noStrike">
              <a:solidFill>
                <a:srgbClr val="000000"/>
              </a:solidFill>
              <a:effectLst/>
              <a:uFillTx/>
              <a:latin typeface="Arial"/>
            </a:endParaRPr>
          </a:p>
        </p:txBody>
      </p:sp>
      <p:sp>
        <p:nvSpPr>
          <p:cNvPr id="30" name="footer-project"/>
          <p:cNvSpPr/>
          <p:nvPr/>
        </p:nvSpPr>
        <p:spPr>
          <a:xfrm>
            <a:off x="609480" y="6458040"/>
            <a:ext cx="4762080" cy="228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200" b="0" u="none" strike="noStrike">
                <a:solidFill>
                  <a:srgbClr val="62665D"/>
                </a:solidFill>
                <a:effectLst/>
                <a:uFillTx/>
                <a:latin typeface="Arial"/>
                <a:ea typeface="Arial"/>
              </a:rPr>
              <a:t>WanderLust</a:t>
            </a:r>
            <a:endParaRPr lang="en-US" sz="1200" b="0" u="none" strike="noStrike">
              <a:solidFill>
                <a:srgbClr val="000000"/>
              </a:solidFill>
              <a:effectLst/>
              <a:uFillTx/>
              <a:latin typeface="Arial"/>
            </a:endParaRPr>
          </a:p>
        </p:txBody>
      </p:sp>
      <p:sp>
        <p:nvSpPr>
          <p:cNvPr id="31" name="footer-page"/>
          <p:cNvSpPr/>
          <p:nvPr/>
        </p:nvSpPr>
        <p:spPr>
          <a:xfrm>
            <a:off x="11001240" y="6458040"/>
            <a:ext cx="57132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200" b="0" u="none" strike="noStrike">
                <a:solidFill>
                  <a:srgbClr val="62665D"/>
                </a:solidFill>
                <a:effectLst/>
                <a:uFillTx/>
                <a:latin typeface="Arial"/>
                <a:ea typeface="Arial"/>
              </a:rPr>
              <a:t>02</a:t>
            </a:r>
            <a:endParaRPr lang="en-US" sz="1200" b="0" u="none" strike="noStrike">
              <a:solidFill>
                <a:srgbClr val="000000"/>
              </a:solidFill>
              <a:effectLst/>
              <a:uFillTx/>
              <a:latin typeface="Arial"/>
            </a:endParaRPr>
          </a:p>
        </p:txBody>
      </p:sp>
      <p:sp>
        <p:nvSpPr>
          <p:cNvPr id="32" name="problem-lead"/>
          <p:cNvSpPr/>
          <p:nvPr/>
        </p:nvSpPr>
        <p:spPr>
          <a:xfrm>
            <a:off x="609480" y="1428840"/>
            <a:ext cx="10572480" cy="9522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850" b="1" u="none" strike="noStrike">
                <a:solidFill>
                  <a:srgbClr val="292D28"/>
                </a:solidFill>
                <a:effectLst/>
                <a:uFillTx/>
                <a:latin typeface="Arial"/>
                <a:ea typeface="Arial"/>
              </a:rPr>
              <a:t>One application for finding stays and managing property listings</a:t>
            </a:r>
            <a:endParaRPr lang="en-US" sz="2850" b="0" u="none" strike="noStrike">
              <a:solidFill>
                <a:srgbClr val="000000"/>
              </a:solidFill>
              <a:effectLst/>
              <a:uFillTx/>
              <a:latin typeface="Arial"/>
            </a:endParaRPr>
          </a:p>
        </p:txBody>
      </p:sp>
      <p:sp>
        <p:nvSpPr>
          <p:cNvPr id="33" name="finding-heading"/>
          <p:cNvSpPr/>
          <p:nvPr/>
        </p:nvSpPr>
        <p:spPr>
          <a:xfrm>
            <a:off x="609480" y="2905200"/>
            <a:ext cx="4952520" cy="3711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1" u="none" strike="noStrike">
                <a:solidFill>
                  <a:srgbClr val="A94E3B"/>
                </a:solidFill>
                <a:effectLst/>
                <a:uFillTx/>
                <a:latin typeface="Arial"/>
                <a:ea typeface="Arial"/>
              </a:rPr>
              <a:t>Visitor objectives</a:t>
            </a:r>
            <a:endParaRPr lang="en-US" sz="2020" b="0" u="none" strike="noStrike">
              <a:solidFill>
                <a:srgbClr val="000000"/>
              </a:solidFill>
              <a:effectLst/>
              <a:uFillTx/>
              <a:latin typeface="Arial"/>
            </a:endParaRPr>
          </a:p>
        </p:txBody>
      </p:sp>
      <p:sp>
        <p:nvSpPr>
          <p:cNvPr id="34" name="finding-body"/>
          <p:cNvSpPr/>
          <p:nvPr/>
        </p:nvSpPr>
        <p:spPr>
          <a:xfrm>
            <a:off x="609480" y="3352680"/>
            <a:ext cx="4952520" cy="14284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Search destinations, compare nightly prices and inspect property details.</a:t>
            </a:r>
            <a:endParaRPr lang="en-US" sz="1870" b="0" u="none" strike="noStrike">
              <a:solidFill>
                <a:srgbClr val="000000"/>
              </a:solidFill>
              <a:effectLst/>
              <a:uFillTx/>
              <a:latin typeface="Arial"/>
            </a:endParaRPr>
          </a:p>
        </p:txBody>
      </p:sp>
      <p:sp>
        <p:nvSpPr>
          <p:cNvPr id="35" name="managing-heading"/>
          <p:cNvSpPr/>
          <p:nvPr/>
        </p:nvSpPr>
        <p:spPr>
          <a:xfrm>
            <a:off x="6324480" y="2905200"/>
            <a:ext cx="5143320" cy="3711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1" u="none" strike="noStrike">
                <a:solidFill>
                  <a:srgbClr val="A94E3B"/>
                </a:solidFill>
                <a:effectLst/>
                <a:uFillTx/>
                <a:latin typeface="Arial"/>
                <a:ea typeface="Arial"/>
              </a:rPr>
              <a:t>Owner and community needs</a:t>
            </a:r>
            <a:endParaRPr lang="en-US" sz="2020" b="0" u="none" strike="noStrike">
              <a:solidFill>
                <a:srgbClr val="000000"/>
              </a:solidFill>
              <a:effectLst/>
              <a:uFillTx/>
              <a:latin typeface="Arial"/>
            </a:endParaRPr>
          </a:p>
        </p:txBody>
      </p:sp>
      <p:sp>
        <p:nvSpPr>
          <p:cNvPr id="36" name="managing-body"/>
          <p:cNvSpPr/>
          <p:nvPr/>
        </p:nvSpPr>
        <p:spPr>
          <a:xfrm>
            <a:off x="6324480" y="3352680"/>
            <a:ext cx="5143320" cy="14284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Publish and manage owned listings. Read public reviews and sign in to contribute.</a:t>
            </a:r>
            <a:endParaRPr lang="en-US" sz="1870" b="0" u="none" strike="noStrike">
              <a:solidFill>
                <a:srgbClr val="000000"/>
              </a:solidFill>
              <a:effectLst/>
              <a:uFillTx/>
              <a:latin typeface="Arial"/>
            </a:endParaRPr>
          </a:p>
        </p:txBody>
      </p:sp>
      <p:sp>
        <p:nvSpPr>
          <p:cNvPr id="37" name="caption-600"/>
          <p:cNvSpPr/>
          <p:nvPr/>
        </p:nvSpPr>
        <p:spPr>
          <a:xfrm>
            <a:off x="609480" y="5715000"/>
            <a:ext cx="10858320" cy="304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500" b="0" u="none" strike="noStrike">
                <a:solidFill>
                  <a:srgbClr val="62665D"/>
                </a:solidFill>
                <a:effectLst/>
                <a:uFillTx/>
                <a:latin typeface="Arial"/>
                <a:ea typeface="Arial"/>
              </a:rPr>
              <a:t>Scope: Discovery and listing management. Bookings and payments remain future work.</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6"/>
        </a:solidFill>
      </p:bgPr>
    </p:bg>
    <p:spTree>
      <p:nvGrpSpPr>
        <p:cNvPr id="1" name=""/>
        <p:cNvGrpSpPr/>
        <p:nvPr/>
      </p:nvGrpSpPr>
      <p:grpSpPr>
        <a:xfrm>
          <a:off x="0" y="0"/>
          <a:ext cx="0" cy="0"/>
          <a:chOff x="0" y="0"/>
          <a:chExt cx="0" cy="0"/>
        </a:xfrm>
      </p:grpSpPr>
      <p:cxnSp>
        <p:nvCxnSpPr>
          <p:cNvPr id="38" name=""/>
          <p:cNvCxnSpPr>
            <a:stCxn id="39" idx="2"/>
            <a:endCxn id="40" idx="0"/>
          </p:cNvCxnSpPr>
          <p:nvPr/>
        </p:nvCxnSpPr>
        <p:spPr>
          <a:xfrm>
            <a:off x="6162480" y="3476520"/>
            <a:ext cx="360" cy="781560"/>
          </a:xfrm>
          <a:prstGeom prst="straightConnector1">
            <a:avLst/>
          </a:prstGeom>
          <a:ln w="19050">
            <a:solidFill>
              <a:srgbClr val="A94E3B"/>
            </a:solidFill>
            <a:round/>
            <a:tailEnd len="med" type="triangle" w="med"/>
          </a:ln>
        </p:spPr>
      </p:cxnSp>
      <p:cxnSp>
        <p:nvCxnSpPr>
          <p:cNvPr id="41" name=""/>
          <p:cNvCxnSpPr>
            <a:stCxn id="42" idx="2"/>
            <a:endCxn id="43" idx="0"/>
          </p:cNvCxnSpPr>
          <p:nvPr/>
        </p:nvCxnSpPr>
        <p:spPr>
          <a:xfrm>
            <a:off x="2038320" y="3476520"/>
            <a:ext cx="360" cy="781560"/>
          </a:xfrm>
          <a:prstGeom prst="straightConnector1">
            <a:avLst/>
          </a:prstGeom>
          <a:ln w="19050">
            <a:solidFill>
              <a:srgbClr val="A94E3B"/>
            </a:solidFill>
            <a:round/>
          </a:ln>
        </p:spPr>
      </p:cxnSp>
      <p:cxnSp>
        <p:nvCxnSpPr>
          <p:cNvPr id="44" name=""/>
          <p:cNvCxnSpPr>
            <a:stCxn id="39" idx="3"/>
            <a:endCxn id="45" idx="1"/>
          </p:cNvCxnSpPr>
          <p:nvPr/>
        </p:nvCxnSpPr>
        <p:spPr>
          <a:xfrm>
            <a:off x="7733880" y="2619360"/>
            <a:ext cx="1124640" cy="360"/>
          </a:xfrm>
          <a:prstGeom prst="straightConnector1">
            <a:avLst/>
          </a:prstGeom>
          <a:ln w="19050">
            <a:solidFill>
              <a:srgbClr val="A94E3B"/>
            </a:solidFill>
            <a:round/>
            <a:tailEnd len="med" type="triangle" w="med"/>
          </a:ln>
        </p:spPr>
      </p:cxnSp>
      <p:cxnSp>
        <p:nvCxnSpPr>
          <p:cNvPr id="46" name=""/>
          <p:cNvCxnSpPr>
            <a:stCxn id="42" idx="3"/>
            <a:endCxn id="39" idx="1"/>
          </p:cNvCxnSpPr>
          <p:nvPr/>
        </p:nvCxnSpPr>
        <p:spPr>
          <a:xfrm>
            <a:off x="3466800" y="2619360"/>
            <a:ext cx="1124640" cy="360"/>
          </a:xfrm>
          <a:prstGeom prst="straightConnector1">
            <a:avLst/>
          </a:prstGeom>
          <a:ln w="19050">
            <a:solidFill>
              <a:srgbClr val="A94E3B"/>
            </a:solidFill>
            <a:round/>
            <a:tailEnd len="med" type="triangle" w="med"/>
          </a:ln>
        </p:spPr>
      </p:cxnSp>
      <p:sp>
        <p:nvSpPr>
          <p:cNvPr id="47" name="slide-title"/>
          <p:cNvSpPr/>
          <p:nvPr/>
        </p:nvSpPr>
        <p:spPr>
          <a:xfrm>
            <a:off x="609480" y="399960"/>
            <a:ext cx="1097244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00" b="1" u="none" strike="noStrike">
                <a:solidFill>
                  <a:srgbClr val="292D28"/>
                </a:solidFill>
                <a:effectLst/>
                <a:uFillTx/>
                <a:latin typeface="Arial"/>
                <a:ea typeface="Arial"/>
              </a:rPr>
              <a:t>Architecture and technology stack</a:t>
            </a:r>
            <a:endParaRPr lang="en-US" sz="3300" b="0" u="none" strike="noStrike">
              <a:solidFill>
                <a:srgbClr val="000000"/>
              </a:solidFill>
              <a:effectLst/>
              <a:uFillTx/>
              <a:latin typeface="Arial"/>
            </a:endParaRPr>
          </a:p>
        </p:txBody>
      </p:sp>
      <p:sp>
        <p:nvSpPr>
          <p:cNvPr id="48" name="footer-project"/>
          <p:cNvSpPr/>
          <p:nvPr/>
        </p:nvSpPr>
        <p:spPr>
          <a:xfrm>
            <a:off x="609480" y="6458040"/>
            <a:ext cx="4762080" cy="228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200" b="0" u="none" strike="noStrike">
                <a:solidFill>
                  <a:srgbClr val="62665D"/>
                </a:solidFill>
                <a:effectLst/>
                <a:uFillTx/>
                <a:latin typeface="Arial"/>
                <a:ea typeface="Arial"/>
              </a:rPr>
              <a:t>WanderLust</a:t>
            </a:r>
            <a:endParaRPr lang="en-US" sz="1200" b="0" u="none" strike="noStrike">
              <a:solidFill>
                <a:srgbClr val="000000"/>
              </a:solidFill>
              <a:effectLst/>
              <a:uFillTx/>
              <a:latin typeface="Arial"/>
            </a:endParaRPr>
          </a:p>
        </p:txBody>
      </p:sp>
      <p:sp>
        <p:nvSpPr>
          <p:cNvPr id="49" name="footer-page"/>
          <p:cNvSpPr/>
          <p:nvPr/>
        </p:nvSpPr>
        <p:spPr>
          <a:xfrm>
            <a:off x="11001240" y="6458040"/>
            <a:ext cx="57132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200" b="0" u="none" strike="noStrike">
                <a:solidFill>
                  <a:srgbClr val="62665D"/>
                </a:solidFill>
                <a:effectLst/>
                <a:uFillTx/>
                <a:latin typeface="Arial"/>
                <a:ea typeface="Arial"/>
              </a:rPr>
              <a:t>03</a:t>
            </a:r>
            <a:endParaRPr lang="en-US" sz="1200" b="0" u="none" strike="noStrike">
              <a:solidFill>
                <a:srgbClr val="000000"/>
              </a:solidFill>
              <a:effectLst/>
              <a:uFillTx/>
              <a:latin typeface="Arial"/>
            </a:endParaRPr>
          </a:p>
        </p:txBody>
      </p:sp>
      <p:sp>
        <p:nvSpPr>
          <p:cNvPr id="42" name="browser"/>
          <p:cNvSpPr/>
          <p:nvPr/>
        </p:nvSpPr>
        <p:spPr>
          <a:xfrm>
            <a:off x="609480" y="1762200"/>
            <a:ext cx="2857320" cy="1714320"/>
          </a:xfrm>
          <a:prstGeom prst="rect">
            <a:avLst/>
          </a:prstGeom>
          <a:solidFill>
            <a:srgbClr val="FFFFFF"/>
          </a:solidFill>
          <a:ln w="14288">
            <a:solidFill>
              <a:srgbClr val="DEDBD4"/>
            </a:solidFill>
            <a:round/>
          </a:ln>
        </p:spPr>
        <p:style>
          <a:lnRef idx="0"/>
          <a:fillRef idx="0"/>
          <a:effectRef idx="0"/>
          <a:fontRef idx="minor"/>
        </p:style>
        <p:txBody>
          <a:bodyPr lIns="190440" tIns="190440" rIns="190440" bIns="190440" anchor="ctr">
            <a:noAutofit/>
          </a:bodyPr>
          <a:p>
            <a:pPr>
              <a:lnSpc>
                <a:spcPct val="100000"/>
              </a:lnSpc>
            </a:pPr>
            <a:r>
              <a:rPr lang="en-US" sz="1800" b="1" u="none" strike="noStrike">
                <a:solidFill>
                  <a:srgbClr val="292D28"/>
                </a:solidFill>
                <a:effectLst/>
                <a:uFillTx/>
                <a:latin typeface="Arial"/>
                <a:ea typeface="Arial"/>
              </a:rPr>
              <a:t>Browser</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292D28"/>
                </a:solidFill>
                <a:effectLst/>
                <a:uFillTx/>
                <a:latin typeface="Arial"/>
                <a:ea typeface="Arial"/>
              </a:rPr>
              <a:t>Rendered EJS pages</a:t>
            </a:r>
            <a:endParaRPr lang="en-US" sz="1800" b="0" u="none" strike="noStrike">
              <a:solidFill>
                <a:srgbClr val="000000"/>
              </a:solidFill>
              <a:effectLst/>
              <a:uFillTx/>
              <a:latin typeface="Arial"/>
            </a:endParaRPr>
          </a:p>
          <a:p>
            <a:pPr>
              <a:lnSpc>
                <a:spcPct val="100000"/>
              </a:lnSpc>
            </a:pPr>
            <a:r>
              <a:rPr lang="en-US" sz="1800" b="0" u="none" strike="noStrike">
                <a:solidFill>
                  <a:srgbClr val="292D28"/>
                </a:solidFill>
                <a:effectLst/>
                <a:uFillTx/>
                <a:latin typeface="Arial"/>
                <a:ea typeface="Arial"/>
              </a:rPr>
              <a:t>Bootstrap and JavaScript</a:t>
            </a:r>
            <a:endParaRPr lang="en-US" sz="1800" b="0" u="none" strike="noStrike">
              <a:solidFill>
                <a:srgbClr val="000000"/>
              </a:solidFill>
              <a:effectLst/>
              <a:uFillTx/>
              <a:latin typeface="Arial"/>
            </a:endParaRPr>
          </a:p>
        </p:txBody>
      </p:sp>
      <p:sp>
        <p:nvSpPr>
          <p:cNvPr id="39" name="server"/>
          <p:cNvSpPr/>
          <p:nvPr/>
        </p:nvSpPr>
        <p:spPr>
          <a:xfrm>
            <a:off x="4591080" y="1762200"/>
            <a:ext cx="3142800" cy="1714320"/>
          </a:xfrm>
          <a:prstGeom prst="rect">
            <a:avLst/>
          </a:prstGeom>
          <a:solidFill>
            <a:srgbClr val="FFFFFF"/>
          </a:solidFill>
          <a:ln w="14288">
            <a:solidFill>
              <a:srgbClr val="DEDBD4"/>
            </a:solidFill>
            <a:round/>
          </a:ln>
        </p:spPr>
        <p:style>
          <a:lnRef idx="0"/>
          <a:fillRef idx="0"/>
          <a:effectRef idx="0"/>
          <a:fontRef idx="minor"/>
        </p:style>
        <p:txBody>
          <a:bodyPr lIns="190440" tIns="190440" rIns="190440" bIns="190440" anchor="ctr">
            <a:noAutofit/>
          </a:bodyPr>
          <a:p>
            <a:pPr>
              <a:lnSpc>
                <a:spcPct val="100000"/>
              </a:lnSpc>
            </a:pPr>
            <a:r>
              <a:rPr lang="en-US" sz="1800" b="1" u="none" strike="noStrike">
                <a:solidFill>
                  <a:srgbClr val="292D28"/>
                </a:solidFill>
                <a:effectLst/>
                <a:uFillTx/>
                <a:latin typeface="Arial"/>
                <a:ea typeface="Arial"/>
              </a:rPr>
              <a:t>Express on Node.js</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292D28"/>
                </a:solidFill>
                <a:effectLst/>
                <a:uFillTx/>
                <a:latin typeface="Arial"/>
                <a:ea typeface="Arial"/>
              </a:rPr>
              <a:t>Routes and controllers</a:t>
            </a:r>
            <a:endParaRPr lang="en-US" sz="1800" b="0" u="none" strike="noStrike">
              <a:solidFill>
                <a:srgbClr val="000000"/>
              </a:solidFill>
              <a:effectLst/>
              <a:uFillTx/>
              <a:latin typeface="Arial"/>
            </a:endParaRPr>
          </a:p>
          <a:p>
            <a:pPr>
              <a:lnSpc>
                <a:spcPct val="100000"/>
              </a:lnSpc>
            </a:pPr>
            <a:r>
              <a:rPr lang="en-US" sz="1800" b="0" u="none" strike="noStrike">
                <a:solidFill>
                  <a:srgbClr val="292D28"/>
                </a:solidFill>
                <a:effectLst/>
                <a:uFillTx/>
                <a:latin typeface="Arial"/>
                <a:ea typeface="Arial"/>
              </a:rPr>
              <a:t>Passport and Joi</a:t>
            </a:r>
            <a:endParaRPr lang="en-US" sz="1800" b="0" u="none" strike="noStrike">
              <a:solidFill>
                <a:srgbClr val="000000"/>
              </a:solidFill>
              <a:effectLst/>
              <a:uFillTx/>
              <a:latin typeface="Arial"/>
            </a:endParaRPr>
          </a:p>
        </p:txBody>
      </p:sp>
      <p:sp>
        <p:nvSpPr>
          <p:cNvPr id="45" name="database"/>
          <p:cNvSpPr/>
          <p:nvPr/>
        </p:nvSpPr>
        <p:spPr>
          <a:xfrm>
            <a:off x="8858160" y="1762200"/>
            <a:ext cx="2723760" cy="1714320"/>
          </a:xfrm>
          <a:prstGeom prst="rect">
            <a:avLst/>
          </a:prstGeom>
          <a:solidFill>
            <a:srgbClr val="FFFFFF"/>
          </a:solidFill>
          <a:ln w="14288">
            <a:solidFill>
              <a:srgbClr val="DEDBD4"/>
            </a:solidFill>
            <a:round/>
          </a:ln>
        </p:spPr>
        <p:style>
          <a:lnRef idx="0"/>
          <a:fillRef idx="0"/>
          <a:effectRef idx="0"/>
          <a:fontRef idx="minor"/>
        </p:style>
        <p:txBody>
          <a:bodyPr lIns="190440" tIns="190440" rIns="190440" bIns="190440" anchor="ctr">
            <a:noAutofit/>
          </a:bodyPr>
          <a:p>
            <a:pPr>
              <a:lnSpc>
                <a:spcPct val="100000"/>
              </a:lnSpc>
            </a:pPr>
            <a:r>
              <a:rPr lang="en-US" sz="1800" b="1" u="none" strike="noStrike">
                <a:solidFill>
                  <a:srgbClr val="292D28"/>
                </a:solidFill>
                <a:effectLst/>
                <a:uFillTx/>
                <a:latin typeface="Arial"/>
                <a:ea typeface="Arial"/>
              </a:rPr>
              <a:t>MongoDB Atlas</a:t>
            </a: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r>
              <a:rPr lang="en-US" sz="1800" b="0" u="none" strike="noStrike">
                <a:solidFill>
                  <a:srgbClr val="292D28"/>
                </a:solidFill>
                <a:effectLst/>
                <a:uFillTx/>
                <a:latin typeface="Arial"/>
                <a:ea typeface="Arial"/>
              </a:rPr>
              <a:t>Listings, users, reviews</a:t>
            </a:r>
            <a:endParaRPr lang="en-US" sz="1800" b="0" u="none" strike="noStrike">
              <a:solidFill>
                <a:srgbClr val="000000"/>
              </a:solidFill>
              <a:effectLst/>
              <a:uFillTx/>
              <a:latin typeface="Arial"/>
            </a:endParaRPr>
          </a:p>
          <a:p>
            <a:pPr>
              <a:lnSpc>
                <a:spcPct val="100000"/>
              </a:lnSpc>
            </a:pPr>
            <a:r>
              <a:rPr lang="en-US" sz="1800" b="0" u="none" strike="noStrike">
                <a:solidFill>
                  <a:srgbClr val="292D28"/>
                </a:solidFill>
                <a:effectLst/>
                <a:uFillTx/>
                <a:latin typeface="Arial"/>
                <a:ea typeface="Arial"/>
              </a:rPr>
              <a:t>Sessions via connect-mongo</a:t>
            </a:r>
            <a:endParaRPr lang="en-US" sz="1800" b="0" u="none" strike="noStrike">
              <a:solidFill>
                <a:srgbClr val="000000"/>
              </a:solidFill>
              <a:effectLst/>
              <a:uFillTx/>
              <a:latin typeface="Arial"/>
            </a:endParaRPr>
          </a:p>
        </p:txBody>
      </p:sp>
      <p:sp>
        <p:nvSpPr>
          <p:cNvPr id="50" name="http-label"/>
          <p:cNvSpPr/>
          <p:nvPr/>
        </p:nvSpPr>
        <p:spPr>
          <a:xfrm>
            <a:off x="3648240" y="2381400"/>
            <a:ext cx="799920" cy="285480"/>
          </a:xfrm>
          <a:prstGeom prst="rect">
            <a:avLst/>
          </a:prstGeom>
          <a:noFill/>
          <a:ln w="0">
            <a:noFill/>
          </a:ln>
        </p:spPr>
        <p:style>
          <a:lnRef idx="0"/>
          <a:fillRef idx="0"/>
          <a:effectRef idx="0"/>
          <a:fontRef idx="minor"/>
        </p:style>
        <p:txBody>
          <a:bodyPr lIns="0" tIns="0" rIns="0" bIns="0" anchor="t">
            <a:noAutofit/>
          </a:bodyPr>
          <a:p>
            <a:pPr algn="ctr">
              <a:lnSpc>
                <a:spcPct val="100000"/>
              </a:lnSpc>
            </a:pPr>
            <a:r>
              <a:rPr lang="en-US" sz="1500" b="0" u="none" strike="noStrike">
                <a:solidFill>
                  <a:srgbClr val="62665D"/>
                </a:solidFill>
                <a:effectLst/>
                <a:uFillTx/>
                <a:latin typeface="Arial"/>
                <a:ea typeface="Arial"/>
              </a:rPr>
              <a:t>HTTP</a:t>
            </a:r>
            <a:endParaRPr lang="en-US" sz="1500" b="0" u="none" strike="noStrike">
              <a:solidFill>
                <a:srgbClr val="000000"/>
              </a:solidFill>
              <a:effectLst/>
              <a:uFillTx/>
              <a:latin typeface="Arial"/>
            </a:endParaRPr>
          </a:p>
        </p:txBody>
      </p:sp>
      <p:sp>
        <p:nvSpPr>
          <p:cNvPr id="51" name="db-label"/>
          <p:cNvSpPr/>
          <p:nvPr/>
        </p:nvSpPr>
        <p:spPr>
          <a:xfrm>
            <a:off x="7829640" y="2381400"/>
            <a:ext cx="952200" cy="285480"/>
          </a:xfrm>
          <a:prstGeom prst="rect">
            <a:avLst/>
          </a:prstGeom>
          <a:noFill/>
          <a:ln w="0">
            <a:noFill/>
          </a:ln>
        </p:spPr>
        <p:style>
          <a:lnRef idx="0"/>
          <a:fillRef idx="0"/>
          <a:effectRef idx="0"/>
          <a:fontRef idx="minor"/>
        </p:style>
        <p:txBody>
          <a:bodyPr lIns="0" tIns="0" rIns="0" bIns="0" anchor="t">
            <a:noAutofit/>
          </a:bodyPr>
          <a:p>
            <a:pPr algn="ctr">
              <a:lnSpc>
                <a:spcPct val="100000"/>
              </a:lnSpc>
            </a:pPr>
            <a:r>
              <a:rPr lang="en-US" sz="1430" b="0" u="none" strike="noStrike">
                <a:solidFill>
                  <a:srgbClr val="62665D"/>
                </a:solidFill>
                <a:effectLst/>
                <a:uFillTx/>
                <a:latin typeface="Arial"/>
                <a:ea typeface="Arial"/>
              </a:rPr>
              <a:t>Mongoose</a:t>
            </a:r>
            <a:endParaRPr lang="en-US" sz="1430" b="0" u="none" strike="noStrike">
              <a:solidFill>
                <a:srgbClr val="000000"/>
              </a:solidFill>
              <a:effectLst/>
              <a:uFillTx/>
              <a:latin typeface="Arial"/>
            </a:endParaRPr>
          </a:p>
        </p:txBody>
      </p:sp>
      <p:sp>
        <p:nvSpPr>
          <p:cNvPr id="43" name="browser-storage"/>
          <p:cNvSpPr/>
          <p:nvPr/>
        </p:nvSpPr>
        <p:spPr>
          <a:xfrm>
            <a:off x="609480" y="4257720"/>
            <a:ext cx="2857320" cy="1380600"/>
          </a:xfrm>
          <a:prstGeom prst="rect">
            <a:avLst/>
          </a:prstGeom>
          <a:solidFill>
            <a:srgbClr val="FFFFFF"/>
          </a:solidFill>
          <a:ln w="14288">
            <a:solidFill>
              <a:srgbClr val="DEDBD4"/>
            </a:solidFill>
            <a:round/>
          </a:ln>
        </p:spPr>
        <p:style>
          <a:lnRef idx="0"/>
          <a:fillRef idx="0"/>
          <a:effectRef idx="0"/>
          <a:fontRef idx="minor"/>
        </p:style>
        <p:txBody>
          <a:bodyPr lIns="152280" tIns="152280" rIns="152280" bIns="152280" anchor="ctr">
            <a:noAutofit/>
          </a:bodyPr>
          <a:p>
            <a:pPr>
              <a:lnSpc>
                <a:spcPct val="100000"/>
              </a:lnSpc>
            </a:pPr>
            <a:r>
              <a:rPr lang="en-US" sz="1729" b="1" u="none" strike="noStrike">
                <a:solidFill>
                  <a:srgbClr val="292D28"/>
                </a:solidFill>
                <a:effectLst/>
                <a:uFillTx/>
                <a:latin typeface="Arial"/>
                <a:ea typeface="Arial"/>
              </a:rPr>
              <a:t>localStorage</a:t>
            </a:r>
            <a:endParaRPr lang="en-US" sz="1729" b="0" u="none" strike="noStrike">
              <a:solidFill>
                <a:srgbClr val="000000"/>
              </a:solidFill>
              <a:effectLst/>
              <a:uFillTx/>
              <a:latin typeface="Arial"/>
            </a:endParaRPr>
          </a:p>
          <a:p>
            <a:pPr>
              <a:lnSpc>
                <a:spcPct val="100000"/>
              </a:lnSpc>
            </a:pPr>
            <a:endParaRPr lang="en-US" sz="1729" b="0" u="none" strike="noStrike">
              <a:solidFill>
                <a:srgbClr val="000000"/>
              </a:solidFill>
              <a:effectLst/>
              <a:uFillTx/>
              <a:latin typeface="Arial"/>
            </a:endParaRPr>
          </a:p>
          <a:p>
            <a:pPr>
              <a:lnSpc>
                <a:spcPct val="100000"/>
              </a:lnSpc>
            </a:pPr>
            <a:r>
              <a:rPr lang="en-US" sz="1729" b="0" u="none" strike="noStrike">
                <a:solidFill>
                  <a:srgbClr val="292D28"/>
                </a:solidFill>
                <a:effectLst/>
                <a:uFillTx/>
                <a:latin typeface="Arial"/>
                <a:ea typeface="Arial"/>
              </a:rPr>
              <a:t>Saved listing IDs</a:t>
            </a:r>
            <a:endParaRPr lang="en-US" sz="1729" b="0" u="none" strike="noStrike">
              <a:solidFill>
                <a:srgbClr val="000000"/>
              </a:solidFill>
              <a:effectLst/>
              <a:uFillTx/>
              <a:latin typeface="Arial"/>
            </a:endParaRPr>
          </a:p>
          <a:p>
            <a:pPr>
              <a:lnSpc>
                <a:spcPct val="100000"/>
              </a:lnSpc>
            </a:pPr>
            <a:r>
              <a:rPr lang="en-US" sz="1729" b="0" u="none" strike="noStrike">
                <a:solidFill>
                  <a:srgbClr val="292D28"/>
                </a:solidFill>
                <a:effectLst/>
                <a:uFillTx/>
                <a:latin typeface="Arial"/>
                <a:ea typeface="Arial"/>
              </a:rPr>
              <a:t>Current browser only</a:t>
            </a:r>
            <a:endParaRPr lang="en-US" sz="1729" b="0" u="none" strike="noStrike">
              <a:solidFill>
                <a:srgbClr val="000000"/>
              </a:solidFill>
              <a:effectLst/>
              <a:uFillTx/>
              <a:latin typeface="Arial"/>
            </a:endParaRPr>
          </a:p>
        </p:txBody>
      </p:sp>
      <p:sp>
        <p:nvSpPr>
          <p:cNvPr id="40" name="media"/>
          <p:cNvSpPr/>
          <p:nvPr/>
        </p:nvSpPr>
        <p:spPr>
          <a:xfrm>
            <a:off x="4591080" y="4257720"/>
            <a:ext cx="3142800" cy="1380600"/>
          </a:xfrm>
          <a:prstGeom prst="rect">
            <a:avLst/>
          </a:prstGeom>
          <a:solidFill>
            <a:srgbClr val="FFFFFF"/>
          </a:solidFill>
          <a:ln w="14288">
            <a:solidFill>
              <a:srgbClr val="DEDBD4"/>
            </a:solidFill>
            <a:round/>
          </a:ln>
        </p:spPr>
        <p:style>
          <a:lnRef idx="0"/>
          <a:fillRef idx="0"/>
          <a:effectRef idx="0"/>
          <a:fontRef idx="minor"/>
        </p:style>
        <p:txBody>
          <a:bodyPr lIns="152280" tIns="152280" rIns="152280" bIns="152280" anchor="ctr">
            <a:noAutofit/>
          </a:bodyPr>
          <a:p>
            <a:pPr>
              <a:lnSpc>
                <a:spcPct val="100000"/>
              </a:lnSpc>
            </a:pPr>
            <a:r>
              <a:rPr lang="en-US" sz="1729" b="1" u="none" strike="noStrike">
                <a:solidFill>
                  <a:srgbClr val="292D28"/>
                </a:solidFill>
                <a:effectLst/>
                <a:uFillTx/>
                <a:latin typeface="Arial"/>
                <a:ea typeface="Arial"/>
              </a:rPr>
              <a:t>Cloudinary</a:t>
            </a:r>
            <a:endParaRPr lang="en-US" sz="1729" b="0" u="none" strike="noStrike">
              <a:solidFill>
                <a:srgbClr val="000000"/>
              </a:solidFill>
              <a:effectLst/>
              <a:uFillTx/>
              <a:latin typeface="Arial"/>
            </a:endParaRPr>
          </a:p>
          <a:p>
            <a:pPr>
              <a:lnSpc>
                <a:spcPct val="100000"/>
              </a:lnSpc>
            </a:pPr>
            <a:endParaRPr lang="en-US" sz="1729" b="0" u="none" strike="noStrike">
              <a:solidFill>
                <a:srgbClr val="000000"/>
              </a:solidFill>
              <a:effectLst/>
              <a:uFillTx/>
              <a:latin typeface="Arial"/>
            </a:endParaRPr>
          </a:p>
          <a:p>
            <a:pPr>
              <a:lnSpc>
                <a:spcPct val="100000"/>
              </a:lnSpc>
            </a:pPr>
            <a:r>
              <a:rPr lang="en-US" sz="1729" b="0" u="none" strike="noStrike">
                <a:solidFill>
                  <a:srgbClr val="292D28"/>
                </a:solidFill>
                <a:effectLst/>
                <a:uFillTx/>
                <a:latin typeface="Arial"/>
                <a:ea typeface="Arial"/>
              </a:rPr>
              <a:t>Property image uploads</a:t>
            </a:r>
            <a:endParaRPr lang="en-US" sz="1729" b="0" u="none" strike="noStrike">
              <a:solidFill>
                <a:srgbClr val="000000"/>
              </a:solidFill>
              <a:effectLst/>
              <a:uFillTx/>
              <a:latin typeface="Arial"/>
            </a:endParaRPr>
          </a:p>
          <a:p>
            <a:pPr>
              <a:lnSpc>
                <a:spcPct val="100000"/>
              </a:lnSpc>
            </a:pPr>
            <a:r>
              <a:rPr lang="en-US" sz="1729" b="0" u="none" strike="noStrike">
                <a:solidFill>
                  <a:srgbClr val="292D28"/>
                </a:solidFill>
                <a:effectLst/>
                <a:uFillTx/>
                <a:latin typeface="Arial"/>
                <a:ea typeface="Arial"/>
              </a:rPr>
              <a:t>Private configuration</a:t>
            </a:r>
            <a:endParaRPr lang="en-US" sz="1729" b="0" u="none" strike="noStrike">
              <a:solidFill>
                <a:srgbClr val="000000"/>
              </a:solidFill>
              <a:effectLst/>
              <a:uFillTx/>
              <a:latin typeface="Arial"/>
            </a:endParaRPr>
          </a:p>
        </p:txBody>
      </p:sp>
      <p:sp>
        <p:nvSpPr>
          <p:cNvPr id="52" name="maps-note"/>
          <p:cNvSpPr/>
          <p:nvPr/>
        </p:nvSpPr>
        <p:spPr>
          <a:xfrm>
            <a:off x="8858160" y="4371840"/>
            <a:ext cx="2723760" cy="1285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62665D"/>
                </a:solidFill>
                <a:effectLst/>
                <a:uFillTx/>
                <a:latin typeface="Arial"/>
                <a:ea typeface="Arial"/>
              </a:rPr>
              <a:t>Maps open through a normal location search link</a:t>
            </a:r>
            <a:endParaRPr lang="en-US" sz="1870" b="0" u="none" strike="noStrike">
              <a:solidFill>
                <a:srgbClr val="000000"/>
              </a:solidFill>
              <a:effectLst/>
              <a:uFillTx/>
              <a:latin typeface="Arial"/>
            </a:endParaRPr>
          </a:p>
        </p:txBody>
      </p:sp>
      <p:sp>
        <p:nvSpPr>
          <p:cNvPr id="53" name="domain-models"/>
          <p:cNvSpPr/>
          <p:nvPr/>
        </p:nvSpPr>
        <p:spPr>
          <a:xfrm>
            <a:off x="609480" y="5943600"/>
            <a:ext cx="10972440" cy="3236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729" b="0" u="none" strike="noStrike">
                <a:solidFill>
                  <a:srgbClr val="62665D"/>
                </a:solidFill>
                <a:effectLst/>
                <a:uFillTx/>
                <a:latin typeface="Arial"/>
                <a:ea typeface="Arial"/>
              </a:rPr>
              <a:t>Data models: User, Listing and Review, linked through ObjectId references</a:t>
            </a:r>
            <a:endParaRPr lang="en-US" sz="172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6"/>
        </a:solidFill>
      </p:bgPr>
    </p:bg>
    <p:spTree>
      <p:nvGrpSpPr>
        <p:cNvPr id="1" name=""/>
        <p:cNvGrpSpPr/>
        <p:nvPr/>
      </p:nvGrpSpPr>
      <p:grpSpPr>
        <a:xfrm>
          <a:off x="0" y="0"/>
          <a:ext cx="0" cy="0"/>
          <a:chOff x="0" y="0"/>
          <a:chExt cx="0" cy="0"/>
        </a:xfrm>
      </p:grpSpPr>
      <p:sp>
        <p:nvSpPr>
          <p:cNvPr id="54" name="slide-title"/>
          <p:cNvSpPr/>
          <p:nvPr/>
        </p:nvSpPr>
        <p:spPr>
          <a:xfrm>
            <a:off x="609480" y="399960"/>
            <a:ext cx="1097244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00" b="1" u="none" strike="noStrike">
                <a:solidFill>
                  <a:srgbClr val="292D28"/>
                </a:solidFill>
                <a:effectLst/>
                <a:uFillTx/>
                <a:latin typeface="Arial"/>
                <a:ea typeface="Arial"/>
              </a:rPr>
              <a:t>Key features and interface</a:t>
            </a:r>
            <a:endParaRPr lang="en-US" sz="3300" b="0" u="none" strike="noStrike">
              <a:solidFill>
                <a:srgbClr val="000000"/>
              </a:solidFill>
              <a:effectLst/>
              <a:uFillTx/>
              <a:latin typeface="Arial"/>
            </a:endParaRPr>
          </a:p>
        </p:txBody>
      </p:sp>
      <p:sp>
        <p:nvSpPr>
          <p:cNvPr id="55" name="footer-project"/>
          <p:cNvSpPr/>
          <p:nvPr/>
        </p:nvSpPr>
        <p:spPr>
          <a:xfrm>
            <a:off x="609480" y="6458040"/>
            <a:ext cx="4762080" cy="228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200" b="0" u="none" strike="noStrike">
                <a:solidFill>
                  <a:srgbClr val="62665D"/>
                </a:solidFill>
                <a:effectLst/>
                <a:uFillTx/>
                <a:latin typeface="Arial"/>
                <a:ea typeface="Arial"/>
              </a:rPr>
              <a:t>WanderLust</a:t>
            </a:r>
            <a:endParaRPr lang="en-US" sz="1200" b="0" u="none" strike="noStrike">
              <a:solidFill>
                <a:srgbClr val="000000"/>
              </a:solidFill>
              <a:effectLst/>
              <a:uFillTx/>
              <a:latin typeface="Arial"/>
            </a:endParaRPr>
          </a:p>
        </p:txBody>
      </p:sp>
      <p:sp>
        <p:nvSpPr>
          <p:cNvPr id="56" name="footer-page"/>
          <p:cNvSpPr/>
          <p:nvPr/>
        </p:nvSpPr>
        <p:spPr>
          <a:xfrm>
            <a:off x="11001240" y="6458040"/>
            <a:ext cx="57132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200" b="0" u="none" strike="noStrike">
                <a:solidFill>
                  <a:srgbClr val="62665D"/>
                </a:solidFill>
                <a:effectLst/>
                <a:uFillTx/>
                <a:latin typeface="Arial"/>
                <a:ea typeface="Arial"/>
              </a:rPr>
              <a:t>04</a:t>
            </a:r>
            <a:endParaRPr lang="en-US" sz="1200" b="0" u="none" strike="noStrike">
              <a:solidFill>
                <a:srgbClr val="000000"/>
              </a:solidFill>
              <a:effectLst/>
              <a:uFillTx/>
              <a:latin typeface="Arial"/>
            </a:endParaRPr>
          </a:p>
        </p:txBody>
      </p:sp>
      <p:sp>
        <p:nvSpPr>
          <p:cNvPr id="57" name="feature-0"/>
          <p:cNvSpPr/>
          <p:nvPr/>
        </p:nvSpPr>
        <p:spPr>
          <a:xfrm>
            <a:off x="609480" y="1457280"/>
            <a:ext cx="390492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Search title, city and country</a:t>
            </a:r>
            <a:endParaRPr lang="en-US" sz="1870" b="0" u="none" strike="noStrike">
              <a:solidFill>
                <a:srgbClr val="000000"/>
              </a:solidFill>
              <a:effectLst/>
              <a:uFillTx/>
              <a:latin typeface="Arial"/>
            </a:endParaRPr>
          </a:p>
        </p:txBody>
      </p:sp>
      <p:sp>
        <p:nvSpPr>
          <p:cNvPr id="58" name="feature-1"/>
          <p:cNvSpPr/>
          <p:nvPr/>
        </p:nvSpPr>
        <p:spPr>
          <a:xfrm>
            <a:off x="609480" y="2152800"/>
            <a:ext cx="390492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Combine minimum and maximum prices</a:t>
            </a:r>
            <a:endParaRPr lang="en-US" sz="1870" b="0" u="none" strike="noStrike">
              <a:solidFill>
                <a:srgbClr val="000000"/>
              </a:solidFill>
              <a:effectLst/>
              <a:uFillTx/>
              <a:latin typeface="Arial"/>
            </a:endParaRPr>
          </a:p>
        </p:txBody>
      </p:sp>
      <p:sp>
        <p:nvSpPr>
          <p:cNvPr id="59" name="feature-2"/>
          <p:cNvSpPr/>
          <p:nvPr/>
        </p:nvSpPr>
        <p:spPr>
          <a:xfrm>
            <a:off x="609480" y="2847960"/>
            <a:ext cx="390492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Sort prices and browse 12 stays per page</a:t>
            </a:r>
            <a:endParaRPr lang="en-US" sz="1870" b="0" u="none" strike="noStrike">
              <a:solidFill>
                <a:srgbClr val="000000"/>
              </a:solidFill>
              <a:effectLst/>
              <a:uFillTx/>
              <a:latin typeface="Arial"/>
            </a:endParaRPr>
          </a:p>
        </p:txBody>
      </p:sp>
      <p:sp>
        <p:nvSpPr>
          <p:cNvPr id="60" name="feature-3"/>
          <p:cNvSpPr/>
          <p:nvPr/>
        </p:nvSpPr>
        <p:spPr>
          <a:xfrm>
            <a:off x="609480" y="3543480"/>
            <a:ext cx="390492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Save stays on this device</a:t>
            </a:r>
            <a:endParaRPr lang="en-US" sz="1870" b="0" u="none" strike="noStrike">
              <a:solidFill>
                <a:srgbClr val="000000"/>
              </a:solidFill>
              <a:effectLst/>
              <a:uFillTx/>
              <a:latin typeface="Arial"/>
            </a:endParaRPr>
          </a:p>
        </p:txBody>
      </p:sp>
      <p:sp>
        <p:nvSpPr>
          <p:cNvPr id="61" name="feature-4"/>
          <p:cNvSpPr/>
          <p:nvPr/>
        </p:nvSpPr>
        <p:spPr>
          <a:xfrm>
            <a:off x="609480" y="4238640"/>
            <a:ext cx="390492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Sign-in, owner controls and genuine reviews</a:t>
            </a:r>
            <a:endParaRPr lang="en-US" sz="1870" b="0" u="none" strike="noStrike">
              <a:solidFill>
                <a:srgbClr val="000000"/>
              </a:solidFill>
              <a:effectLst/>
              <a:uFillTx/>
              <a:latin typeface="Arial"/>
            </a:endParaRPr>
          </a:p>
        </p:txBody>
      </p:sp>
      <p:sp>
        <p:nvSpPr>
          <p:cNvPr id="62" name="feature-5"/>
          <p:cNvSpPr/>
          <p:nvPr/>
        </p:nvSpPr>
        <p:spPr>
          <a:xfrm>
            <a:off x="609480" y="4933800"/>
            <a:ext cx="390492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292D28"/>
                </a:solidFill>
                <a:effectLst/>
                <a:uFillTx/>
                <a:latin typeface="Arial"/>
                <a:ea typeface="Arial"/>
              </a:rPr>
              <a:t>Maps links and related stays</a:t>
            </a:r>
            <a:endParaRPr lang="en-US" sz="1870" b="0" u="none" strike="noStrike">
              <a:solidFill>
                <a:srgbClr val="000000"/>
              </a:solidFill>
              <a:effectLst/>
              <a:uFillTx/>
              <a:latin typeface="Arial"/>
            </a:endParaRPr>
          </a:p>
        </p:txBody>
      </p:sp>
      <p:pic>
        <p:nvPicPr>
          <p:cNvPr id="63" name=""/>
          <p:cNvPicPr/>
          <p:nvPr/>
        </p:nvPicPr>
        <p:blipFill>
          <a:blip r:embed="rId1"/>
          <a:stretch/>
        </p:blipFill>
        <p:spPr>
          <a:xfrm>
            <a:off x="4906440" y="1428840"/>
            <a:ext cx="6674760" cy="4171680"/>
          </a:xfrm>
          <a:prstGeom prst="rect">
            <a:avLst/>
          </a:prstGeom>
          <a:noFill/>
          <a:ln w="0">
            <a:noFill/>
          </a:ln>
        </p:spPr>
      </p:pic>
      <p:sp>
        <p:nvSpPr>
          <p:cNvPr id="64" name="interface-caption"/>
          <p:cNvSpPr/>
          <p:nvPr/>
        </p:nvSpPr>
        <p:spPr>
          <a:xfrm>
            <a:off x="4905360" y="5838840"/>
            <a:ext cx="6676560" cy="3330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580" b="0" u="none" strike="noStrike">
                <a:solidFill>
                  <a:srgbClr val="62665D"/>
                </a:solidFill>
                <a:effectLst/>
                <a:uFillTx/>
                <a:latin typeface="Arial"/>
                <a:ea typeface="Arial"/>
              </a:rPr>
              <a:t>Local build with EJS, Bootstrap and custom CSS</a:t>
            </a:r>
            <a:endParaRPr lang="en-US" sz="158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6"/>
        </a:solidFill>
      </p:bgPr>
    </p:bg>
    <p:spTree>
      <p:nvGrpSpPr>
        <p:cNvPr id="1" name=""/>
        <p:cNvGrpSpPr/>
        <p:nvPr/>
      </p:nvGrpSpPr>
      <p:grpSpPr>
        <a:xfrm>
          <a:off x="0" y="0"/>
          <a:ext cx="0" cy="0"/>
          <a:chOff x="0" y="0"/>
          <a:chExt cx="0" cy="0"/>
        </a:xfrm>
      </p:grpSpPr>
      <p:sp>
        <p:nvSpPr>
          <p:cNvPr id="65" name="slide-title"/>
          <p:cNvSpPr/>
          <p:nvPr/>
        </p:nvSpPr>
        <p:spPr>
          <a:xfrm>
            <a:off x="609480" y="399960"/>
            <a:ext cx="1097244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00" b="1" u="none" strike="noStrike">
                <a:solidFill>
                  <a:srgbClr val="292D28"/>
                </a:solidFill>
                <a:effectLst/>
                <a:uFillTx/>
                <a:latin typeface="Arial"/>
                <a:ea typeface="Arial"/>
              </a:rPr>
              <a:t>Demo data and search verification</a:t>
            </a:r>
            <a:endParaRPr lang="en-US" sz="3300" b="0" u="none" strike="noStrike">
              <a:solidFill>
                <a:srgbClr val="000000"/>
              </a:solidFill>
              <a:effectLst/>
              <a:uFillTx/>
              <a:latin typeface="Arial"/>
            </a:endParaRPr>
          </a:p>
        </p:txBody>
      </p:sp>
      <p:sp>
        <p:nvSpPr>
          <p:cNvPr id="66" name="footer-project"/>
          <p:cNvSpPr/>
          <p:nvPr/>
        </p:nvSpPr>
        <p:spPr>
          <a:xfrm>
            <a:off x="609480" y="6458040"/>
            <a:ext cx="4762080" cy="228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200" b="0" u="none" strike="noStrike">
                <a:solidFill>
                  <a:srgbClr val="62665D"/>
                </a:solidFill>
                <a:effectLst/>
                <a:uFillTx/>
                <a:latin typeface="Arial"/>
                <a:ea typeface="Arial"/>
              </a:rPr>
              <a:t>WanderLust</a:t>
            </a:r>
            <a:endParaRPr lang="en-US" sz="1200" b="0" u="none" strike="noStrike">
              <a:solidFill>
                <a:srgbClr val="000000"/>
              </a:solidFill>
              <a:effectLst/>
              <a:uFillTx/>
              <a:latin typeface="Arial"/>
            </a:endParaRPr>
          </a:p>
        </p:txBody>
      </p:sp>
      <p:sp>
        <p:nvSpPr>
          <p:cNvPr id="67" name="footer-page"/>
          <p:cNvSpPr/>
          <p:nvPr/>
        </p:nvSpPr>
        <p:spPr>
          <a:xfrm>
            <a:off x="11001240" y="6458040"/>
            <a:ext cx="57132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200" b="0" u="none" strike="noStrike">
                <a:solidFill>
                  <a:srgbClr val="62665D"/>
                </a:solidFill>
                <a:effectLst/>
                <a:uFillTx/>
                <a:latin typeface="Arial"/>
                <a:ea typeface="Arial"/>
              </a:rPr>
              <a:t>05</a:t>
            </a:r>
            <a:endParaRPr lang="en-US" sz="1200" b="0" u="none" strike="noStrike">
              <a:solidFill>
                <a:srgbClr val="000000"/>
              </a:solidFill>
              <a:effectLst/>
              <a:uFillTx/>
              <a:latin typeface="Arial"/>
            </a:endParaRPr>
          </a:p>
        </p:txBody>
      </p:sp>
      <p:sp>
        <p:nvSpPr>
          <p:cNvPr id="68" name="demo-number"/>
          <p:cNvSpPr/>
          <p:nvPr/>
        </p:nvSpPr>
        <p:spPr>
          <a:xfrm>
            <a:off x="609480" y="1476360"/>
            <a:ext cx="3524040" cy="1047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7500" b="1" u="none" strike="noStrike">
                <a:solidFill>
                  <a:srgbClr val="A94E3B"/>
                </a:solidFill>
                <a:effectLst/>
                <a:uFillTx/>
                <a:latin typeface="Arial"/>
                <a:ea typeface="Arial"/>
              </a:rPr>
              <a:t>32</a:t>
            </a:r>
            <a:endParaRPr lang="en-US" sz="7500" b="0" u="none" strike="noStrike">
              <a:solidFill>
                <a:srgbClr val="000000"/>
              </a:solidFill>
              <a:effectLst/>
              <a:uFillTx/>
              <a:latin typeface="Arial"/>
            </a:endParaRPr>
          </a:p>
        </p:txBody>
      </p:sp>
      <p:sp>
        <p:nvSpPr>
          <p:cNvPr id="69" name="demo-description"/>
          <p:cNvSpPr/>
          <p:nvPr/>
        </p:nvSpPr>
        <p:spPr>
          <a:xfrm>
            <a:off x="609480" y="2666880"/>
            <a:ext cx="3904920" cy="14284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170" b="0" u="none" strike="noStrike">
                <a:solidFill>
                  <a:srgbClr val="292D28"/>
                </a:solidFill>
                <a:effectLst/>
                <a:uFillTx/>
                <a:latin typeface="Arial"/>
                <a:ea typeface="Arial"/>
              </a:rPr>
              <a:t>demo listings</a:t>
            </a:r>
            <a:endParaRPr lang="en-US" sz="2170" b="0" u="none" strike="noStrike">
              <a:solidFill>
                <a:srgbClr val="000000"/>
              </a:solidFill>
              <a:effectLst/>
              <a:uFillTx/>
              <a:latin typeface="Arial"/>
            </a:endParaRPr>
          </a:p>
          <a:p>
            <a:pPr>
              <a:lnSpc>
                <a:spcPct val="100000"/>
              </a:lnSpc>
            </a:pPr>
            <a:r>
              <a:rPr lang="en-US" sz="2170" b="0" u="none" strike="noStrike">
                <a:solidFill>
                  <a:srgbClr val="292D28"/>
                </a:solidFill>
                <a:effectLst/>
                <a:uFillTx/>
                <a:latin typeface="Arial"/>
                <a:ea typeface="Arial"/>
              </a:rPr>
              <a:t>20 destinations</a:t>
            </a:r>
            <a:endParaRPr lang="en-US" sz="2170" b="0" u="none" strike="noStrike">
              <a:solidFill>
                <a:srgbClr val="000000"/>
              </a:solidFill>
              <a:effectLst/>
              <a:uFillTx/>
              <a:latin typeface="Arial"/>
            </a:endParaRPr>
          </a:p>
          <a:p>
            <a:pPr>
              <a:lnSpc>
                <a:spcPct val="100000"/>
              </a:lnSpc>
            </a:pPr>
            <a:r>
              <a:rPr lang="en-US" sz="2170" b="0" u="none" strike="noStrike">
                <a:solidFill>
                  <a:srgbClr val="292D28"/>
                </a:solidFill>
                <a:effectLst/>
                <a:uFillTx/>
                <a:latin typeface="Arial"/>
                <a:ea typeface="Arial"/>
              </a:rPr>
              <a:t>₹800–₹25,000 per night</a:t>
            </a:r>
            <a:endParaRPr lang="en-US" sz="2170" b="0" u="none" strike="noStrike">
              <a:solidFill>
                <a:srgbClr val="000000"/>
              </a:solidFill>
              <a:effectLst/>
              <a:uFillTx/>
              <a:latin typeface="Arial"/>
            </a:endParaRPr>
          </a:p>
        </p:txBody>
      </p:sp>
      <p:sp>
        <p:nvSpPr>
          <p:cNvPr id="70" name="demo-integrity"/>
          <p:cNvSpPr/>
          <p:nvPr/>
        </p:nvSpPr>
        <p:spPr>
          <a:xfrm>
            <a:off x="609480" y="4514760"/>
            <a:ext cx="3857400" cy="1371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70" b="0" u="none" strike="noStrike">
                <a:solidFill>
                  <a:srgbClr val="62665D"/>
                </a:solidFill>
                <a:effectLst/>
                <a:uFillTx/>
                <a:latin typeface="Arial"/>
                <a:ea typeface="Arial"/>
              </a:rPr>
              <a:t>Demo data: fictional stays.</a:t>
            </a:r>
            <a:endParaRPr lang="en-US" sz="1870" b="0" u="none" strike="noStrike">
              <a:solidFill>
                <a:srgbClr val="000000"/>
              </a:solidFill>
              <a:effectLst/>
              <a:uFillTx/>
              <a:latin typeface="Arial"/>
            </a:endParaRPr>
          </a:p>
          <a:p>
            <a:pPr>
              <a:lnSpc>
                <a:spcPct val="100000"/>
              </a:lnSpc>
            </a:pPr>
            <a:endParaRPr lang="en-US" sz="1950" b="0" u="none" strike="noStrike">
              <a:solidFill>
                <a:srgbClr val="000000"/>
              </a:solidFill>
              <a:effectLst/>
              <a:uFillTx/>
              <a:latin typeface="Arial"/>
            </a:endParaRPr>
          </a:p>
          <a:p>
            <a:pPr>
              <a:lnSpc>
                <a:spcPct val="100000"/>
              </a:lnSpc>
            </a:pPr>
            <a:r>
              <a:rPr lang="en-US" sz="1870" b="0" u="none" strike="noStrike">
                <a:solidFill>
                  <a:srgbClr val="62665D"/>
                </a:solidFill>
                <a:effectLst/>
                <a:uFillTx/>
                <a:latin typeface="Arial"/>
                <a:ea typeface="Arial"/>
              </a:rPr>
              <a:t>Manali, ₹1,000–₹3,000:</a:t>
            </a:r>
            <a:endParaRPr lang="en-US" sz="1870" b="0" u="none" strike="noStrike">
              <a:solidFill>
                <a:srgbClr val="000000"/>
              </a:solidFill>
              <a:effectLst/>
              <a:uFillTx/>
              <a:latin typeface="Arial"/>
            </a:endParaRPr>
          </a:p>
          <a:p>
            <a:pPr>
              <a:lnSpc>
                <a:spcPct val="100000"/>
              </a:lnSpc>
            </a:pPr>
            <a:r>
              <a:rPr lang="en-US" sz="1870" b="0" u="none" strike="noStrike">
                <a:solidFill>
                  <a:srgbClr val="62665D"/>
                </a:solidFill>
                <a:effectLst/>
                <a:uFillTx/>
                <a:latin typeface="Arial"/>
                <a:ea typeface="Arial"/>
              </a:rPr>
              <a:t>2 matching demo listings.</a:t>
            </a:r>
            <a:endParaRPr lang="en-US" sz="1870" b="0" u="none" strike="noStrike">
              <a:solidFill>
                <a:srgbClr val="000000"/>
              </a:solidFill>
              <a:effectLst/>
              <a:uFillTx/>
              <a:latin typeface="Arial"/>
            </a:endParaRPr>
          </a:p>
        </p:txBody>
      </p:sp>
      <p:sp>
        <p:nvSpPr>
          <p:cNvPr id="71" name="caption-632"/>
          <p:cNvSpPr/>
          <p:nvPr/>
        </p:nvSpPr>
        <p:spPr>
          <a:xfrm>
            <a:off x="609480" y="6019920"/>
            <a:ext cx="10858320" cy="30456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500" b="0" u="none" strike="noStrike">
                <a:solidFill>
                  <a:srgbClr val="62665D"/>
                </a:solidFill>
                <a:effectLst/>
                <a:uFillTx/>
                <a:latin typeface="Arial"/>
                <a:ea typeface="Arial"/>
              </a:rPr>
              <a:t>Price-band counts come directly from the 32-record demo manifest</a:t>
            </a:r>
            <a:endParaRPr lang="en-US" sz="1500" b="0" u="none" strike="noStrike">
              <a:solidFill>
                <a:srgbClr val="000000"/>
              </a:solidFill>
              <a:effectLst/>
              <a:uFillTx/>
              <a:latin typeface="Arial"/>
            </a:endParaRPr>
          </a:p>
        </p:txBody>
      </p:sp>
      <p:graphicFrame>
        <p:nvGraphicFramePr>
          <p:cNvPr id="72" name="Chart"/>
          <p:cNvGraphicFramePr/>
          <p:nvPr/>
        </p:nvGraphicFramePr>
        <p:xfrm>
          <a:off x="4629240" y="1476360"/>
          <a:ext cx="6953040" cy="4285800"/>
        </p:xfrm>
        <a:graphic>
          <a:graphicData uri="http://schemas.openxmlformats.org/drawingml/2006/chart">
            <c:chart xmlns:c="http://schemas.openxmlformats.org/drawingml/2006/chart" xmlns:r="http://schemas.openxmlformats.org/officeDocument/2006/relationships" r:id="rId1"/>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AF9F6"/>
        </a:solidFill>
      </p:bgPr>
    </p:bg>
    <p:spTree>
      <p:nvGrpSpPr>
        <p:cNvPr id="1" name=""/>
        <p:cNvGrpSpPr/>
        <p:nvPr/>
      </p:nvGrpSpPr>
      <p:grpSpPr>
        <a:xfrm>
          <a:off x="0" y="0"/>
          <a:ext cx="0" cy="0"/>
          <a:chOff x="0" y="0"/>
          <a:chExt cx="0" cy="0"/>
        </a:xfrm>
      </p:grpSpPr>
      <p:sp>
        <p:nvSpPr>
          <p:cNvPr id="73" name="slide-title"/>
          <p:cNvSpPr/>
          <p:nvPr/>
        </p:nvSpPr>
        <p:spPr>
          <a:xfrm>
            <a:off x="609480" y="399960"/>
            <a:ext cx="10972440" cy="64728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3300" b="1" u="none" strike="noStrike">
                <a:solidFill>
                  <a:srgbClr val="292D28"/>
                </a:solidFill>
                <a:effectLst/>
                <a:uFillTx/>
                <a:latin typeface="Arial"/>
                <a:ea typeface="Arial"/>
              </a:rPr>
              <a:t>Testing, outcomes and future scope</a:t>
            </a:r>
            <a:endParaRPr lang="en-US" sz="3300" b="0" u="none" strike="noStrike">
              <a:solidFill>
                <a:srgbClr val="000000"/>
              </a:solidFill>
              <a:effectLst/>
              <a:uFillTx/>
              <a:latin typeface="Arial"/>
            </a:endParaRPr>
          </a:p>
        </p:txBody>
      </p:sp>
      <p:sp>
        <p:nvSpPr>
          <p:cNvPr id="74" name="footer-project"/>
          <p:cNvSpPr/>
          <p:nvPr/>
        </p:nvSpPr>
        <p:spPr>
          <a:xfrm>
            <a:off x="609480" y="6458040"/>
            <a:ext cx="4762080" cy="2282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200" b="0" u="none" strike="noStrike">
                <a:solidFill>
                  <a:srgbClr val="62665D"/>
                </a:solidFill>
                <a:effectLst/>
                <a:uFillTx/>
                <a:latin typeface="Arial"/>
                <a:ea typeface="Arial"/>
              </a:rPr>
              <a:t>WanderLust</a:t>
            </a:r>
            <a:endParaRPr lang="en-US" sz="1200" b="0" u="none" strike="noStrike">
              <a:solidFill>
                <a:srgbClr val="000000"/>
              </a:solidFill>
              <a:effectLst/>
              <a:uFillTx/>
              <a:latin typeface="Arial"/>
            </a:endParaRPr>
          </a:p>
        </p:txBody>
      </p:sp>
      <p:sp>
        <p:nvSpPr>
          <p:cNvPr id="75" name="footer-page"/>
          <p:cNvSpPr/>
          <p:nvPr/>
        </p:nvSpPr>
        <p:spPr>
          <a:xfrm>
            <a:off x="11001240" y="6458040"/>
            <a:ext cx="571320" cy="228240"/>
          </a:xfrm>
          <a:prstGeom prst="rect">
            <a:avLst/>
          </a:prstGeom>
          <a:noFill/>
          <a:ln w="0">
            <a:noFill/>
          </a:ln>
        </p:spPr>
        <p:style>
          <a:lnRef idx="0"/>
          <a:fillRef idx="0"/>
          <a:effectRef idx="0"/>
          <a:fontRef idx="minor"/>
        </p:style>
        <p:txBody>
          <a:bodyPr lIns="0" tIns="0" rIns="0" bIns="0" anchor="t">
            <a:noAutofit/>
          </a:bodyPr>
          <a:p>
            <a:pPr algn="r">
              <a:lnSpc>
                <a:spcPct val="100000"/>
              </a:lnSpc>
            </a:pPr>
            <a:r>
              <a:rPr lang="en-US" sz="1200" b="0" u="none" strike="noStrike">
                <a:solidFill>
                  <a:srgbClr val="62665D"/>
                </a:solidFill>
                <a:effectLst/>
                <a:uFillTx/>
                <a:latin typeface="Arial"/>
                <a:ea typeface="Arial"/>
              </a:rPr>
              <a:t>06</a:t>
            </a:r>
            <a:endParaRPr lang="en-US" sz="1200" b="0" u="none" strike="noStrike">
              <a:solidFill>
                <a:srgbClr val="000000"/>
              </a:solidFill>
              <a:effectLst/>
              <a:uFillTx/>
              <a:latin typeface="Arial"/>
            </a:endParaRPr>
          </a:p>
        </p:txBody>
      </p:sp>
      <p:graphicFrame>
        <p:nvGraphicFramePr>
          <p:cNvPr id="76" name=""/>
          <p:cNvGraphicFramePr/>
          <p:nvPr/>
        </p:nvGraphicFramePr>
        <p:xfrm>
          <a:off x="609480" y="1380960"/>
          <a:ext cx="10972440" cy="3142800"/>
        </p:xfrm>
        <a:graphic>
          <a:graphicData uri="http://schemas.openxmlformats.org/drawingml/2006/table">
            <a:tbl>
              <a:tblPr/>
              <a:tblGrid>
                <a:gridCol w="3666960"/>
                <a:gridCol w="4476600"/>
                <a:gridCol w="2828880"/>
              </a:tblGrid>
              <a:tr h="523800">
                <a:tc>
                  <a:txBody>
                    <a:bodyPr anchor="ctr">
                      <a:noAutofit/>
                    </a:bodyPr>
                    <a:p>
                      <a:pPr>
                        <a:lnSpc>
                          <a:spcPct val="100000"/>
                        </a:lnSpc>
                      </a:pPr>
                      <a:r>
                        <a:rPr lang="en-US" sz="1800" b="1" u="none" strike="noStrike">
                          <a:solidFill>
                            <a:srgbClr val="A94E3B"/>
                          </a:solidFill>
                          <a:effectLst/>
                          <a:uFillTx/>
                          <a:latin typeface="Arial"/>
                          <a:ea typeface="Arial"/>
                        </a:rPr>
                        <a:t>Test area</a:t>
                      </a:r>
                      <a:endParaRPr lang="en-US" sz="1800" b="0" u="none" strike="noStrike">
                        <a:solidFill>
                          <a:srgbClr val="000000"/>
                        </a:solidFill>
                        <a:effectLst/>
                        <a:uFillTx/>
                        <a:latin typeface="Arial"/>
                      </a:endParaRPr>
                    </a:p>
                  </a:txBody>
                  <a:tcPr anchor="ctr" marL="91440" marR="91440" marT="45720" marB="45720">
                    <a:lnL w="9360">
                      <a:solidFill>
                        <a:srgbClr val="DEDBD4"/>
                      </a:solidFill>
                      <a:prstDash val="solid"/>
                    </a:lnL>
                    <a:lnR w="9360">
                      <a:solidFill>
                        <a:srgbClr val="DEDBD4"/>
                      </a:solidFill>
                      <a:prstDash val="solid"/>
                    </a:lnR>
                    <a:lnT w="9360">
                      <a:solidFill>
                        <a:srgbClr val="DEDBD4"/>
                      </a:solidFill>
                      <a:prstDash val="solid"/>
                    </a:lnT>
                    <a:lnB w="9360">
                      <a:solidFill>
                        <a:srgbClr val="DEDBD4"/>
                      </a:solidFill>
                      <a:prstDash val="solid"/>
                    </a:lnB>
                    <a:solidFill>
                      <a:srgbClr val="F5E9E2"/>
                    </a:solidFill>
                  </a:tcPr>
                </a:tc>
                <a:tc>
                  <a:txBody>
                    <a:bodyPr anchor="ctr">
                      <a:noAutofit/>
                    </a:bodyPr>
                    <a:p>
                      <a:pPr>
                        <a:lnSpc>
                          <a:spcPct val="100000"/>
                        </a:lnSpc>
                      </a:pPr>
                      <a:r>
                        <a:rPr lang="en-US" sz="1800" b="1" u="none" strike="noStrike">
                          <a:solidFill>
                            <a:srgbClr val="A94E3B"/>
                          </a:solidFill>
                          <a:effectLst/>
                          <a:uFillTx/>
                          <a:latin typeface="Arial"/>
                          <a:ea typeface="Arial"/>
                        </a:rPr>
                        <a:t>Evidence</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9360">
                      <a:solidFill>
                        <a:srgbClr val="DEDBD4"/>
                      </a:solidFill>
                      <a:prstDash val="solid"/>
                    </a:lnT>
                    <a:lnB w="9360">
                      <a:solidFill>
                        <a:srgbClr val="DEDBD4"/>
                      </a:solidFill>
                      <a:prstDash val="solid"/>
                    </a:lnB>
                    <a:solidFill>
                      <a:srgbClr val="F5E9E2"/>
                    </a:solidFill>
                  </a:tcPr>
                </a:tc>
                <a:tc>
                  <a:txBody>
                    <a:bodyPr anchor="ctr">
                      <a:noAutofit/>
                    </a:bodyPr>
                    <a:p>
                      <a:pPr>
                        <a:lnSpc>
                          <a:spcPct val="100000"/>
                        </a:lnSpc>
                      </a:pPr>
                      <a:r>
                        <a:rPr lang="en-US" sz="1800" b="1" u="none" strike="noStrike">
                          <a:solidFill>
                            <a:srgbClr val="A94E3B"/>
                          </a:solidFill>
                          <a:effectLst/>
                          <a:uFillTx/>
                          <a:latin typeface="Arial"/>
                          <a:ea typeface="Arial"/>
                        </a:rPr>
                        <a:t>Outcome</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9360">
                      <a:solidFill>
                        <a:srgbClr val="DEDBD4"/>
                      </a:solidFill>
                      <a:prstDash val="solid"/>
                    </a:lnT>
                    <a:lnB w="9360">
                      <a:solidFill>
                        <a:srgbClr val="DEDBD4"/>
                      </a:solidFill>
                      <a:prstDash val="solid"/>
                    </a:lnB>
                    <a:solidFill>
                      <a:srgbClr val="F5E9E2"/>
                    </a:solidFill>
                  </a:tcPr>
                </a:tc>
              </a:tr>
              <a:tr h="523800">
                <a:tc>
                  <a:txBody>
                    <a:bodyPr anchor="ctr">
                      <a:noAutofit/>
                    </a:bodyPr>
                    <a:p>
                      <a:pPr>
                        <a:lnSpc>
                          <a:spcPct val="100000"/>
                        </a:lnSpc>
                      </a:pPr>
                      <a:r>
                        <a:rPr lang="en-US" sz="1800" b="0" u="none" strike="noStrike">
                          <a:solidFill>
                            <a:srgbClr val="292D28"/>
                          </a:solidFill>
                          <a:effectLst/>
                          <a:uFillTx/>
                          <a:latin typeface="Arial"/>
                          <a:ea typeface="Arial"/>
                        </a:rPr>
                        <a:t>Logic and seed safety</a:t>
                      </a:r>
                      <a:endParaRPr lang="en-US" sz="1800" b="0" u="none" strike="noStrike">
                        <a:solidFill>
                          <a:srgbClr val="000000"/>
                        </a:solidFill>
                        <a:effectLst/>
                        <a:uFillTx/>
                        <a:latin typeface="Arial"/>
                      </a:endParaRPr>
                    </a:p>
                  </a:txBody>
                  <a:tcPr anchor="ctr" marL="91440" marR="91440" marT="45720" marB="45720">
                    <a:lnL w="9360">
                      <a:solidFill>
                        <a:srgbClr val="DEDBD4"/>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18 unit tests</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Passed</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r>
              <a:tr h="523800">
                <a:tc>
                  <a:txBody>
                    <a:bodyPr anchor="ctr">
                      <a:noAutofit/>
                    </a:bodyPr>
                    <a:p>
                      <a:pPr>
                        <a:lnSpc>
                          <a:spcPct val="100000"/>
                        </a:lnSpc>
                      </a:pPr>
                      <a:r>
                        <a:rPr lang="en-US" sz="1800" b="0" u="none" strike="noStrike">
                          <a:solidFill>
                            <a:srgbClr val="292D28"/>
                          </a:solidFill>
                          <a:effectLst/>
                          <a:uFillTx/>
                          <a:latin typeface="Arial"/>
                          <a:ea typeface="Arial"/>
                        </a:rPr>
                        <a:t>Search/filter HTTP</a:t>
                      </a:r>
                      <a:endParaRPr lang="en-US" sz="1800" b="0" u="none" strike="noStrike">
                        <a:solidFill>
                          <a:srgbClr val="000000"/>
                        </a:solidFill>
                        <a:effectLst/>
                        <a:uFillTx/>
                        <a:latin typeface="Arial"/>
                      </a:endParaRPr>
                    </a:p>
                  </a:txBody>
                  <a:tcPr anchor="ctr" marL="91440" marR="91440" marT="45720" marB="45720">
                    <a:lnL w="9360">
                      <a:solidFill>
                        <a:srgbClr val="DEDBD4"/>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17 valid + 10 invalid</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Passed</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r>
              <a:tr h="523800">
                <a:tc>
                  <a:txBody>
                    <a:bodyPr anchor="ctr">
                      <a:noAutofit/>
                    </a:bodyPr>
                    <a:p>
                      <a:pPr>
                        <a:lnSpc>
                          <a:spcPct val="100000"/>
                        </a:lnSpc>
                      </a:pPr>
                      <a:r>
                        <a:rPr lang="en-US" sz="1800" b="0" u="none" strike="noStrike">
                          <a:solidFill>
                            <a:srgbClr val="292D28"/>
                          </a:solidFill>
                          <a:effectLst/>
                          <a:uFillTx/>
                          <a:latin typeface="Arial"/>
                          <a:ea typeface="Arial"/>
                        </a:rPr>
                        <a:t>Pagination</a:t>
                      </a:r>
                      <a:endParaRPr lang="en-US" sz="1800" b="0" u="none" strike="noStrike">
                        <a:solidFill>
                          <a:srgbClr val="000000"/>
                        </a:solidFill>
                        <a:effectLst/>
                        <a:uFillTx/>
                        <a:latin typeface="Arial"/>
                      </a:endParaRPr>
                    </a:p>
                  </a:txBody>
                  <a:tcPr anchor="ctr" marL="91440" marR="91440" marT="45720" marB="45720">
                    <a:lnL w="9360">
                      <a:solidFill>
                        <a:srgbClr val="DEDBD4"/>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15 result pages</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No gaps or duplicates</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r>
              <a:tr h="523800">
                <a:tc>
                  <a:txBody>
                    <a:bodyPr anchor="ctr">
                      <a:noAutofit/>
                    </a:bodyPr>
                    <a:p>
                      <a:pPr>
                        <a:lnSpc>
                          <a:spcPct val="100000"/>
                        </a:lnSpc>
                      </a:pPr>
                      <a:r>
                        <a:rPr lang="en-US" sz="1800" b="0" u="none" strike="noStrike">
                          <a:solidFill>
                            <a:srgbClr val="292D28"/>
                          </a:solidFill>
                          <a:effectLst/>
                          <a:uFillTx/>
                          <a:latin typeface="Arial"/>
                          <a:ea typeface="Arial"/>
                        </a:rPr>
                        <a:t>Responsive layout</a:t>
                      </a:r>
                      <a:endParaRPr lang="en-US" sz="1800" b="0" u="none" strike="noStrike">
                        <a:solidFill>
                          <a:srgbClr val="000000"/>
                        </a:solidFill>
                        <a:effectLst/>
                        <a:uFillTx/>
                        <a:latin typeface="Arial"/>
                      </a:endParaRPr>
                    </a:p>
                  </a:txBody>
                  <a:tcPr anchor="ctr" marL="91440" marR="91440" marT="45720" marB="45720">
                    <a:lnL w="9360">
                      <a:solidFill>
                        <a:srgbClr val="DEDBD4"/>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45 viewport checks</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Passed</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r>
              <a:tr h="523800">
                <a:tc>
                  <a:txBody>
                    <a:bodyPr anchor="ctr">
                      <a:noAutofit/>
                    </a:bodyPr>
                    <a:p>
                      <a:pPr>
                        <a:lnSpc>
                          <a:spcPct val="100000"/>
                        </a:lnSpc>
                      </a:pPr>
                      <a:r>
                        <a:rPr lang="en-US" sz="1800" b="0" u="none" strike="noStrike">
                          <a:solidFill>
                            <a:srgbClr val="292D28"/>
                          </a:solidFill>
                          <a:effectLst/>
                          <a:uFillTx/>
                          <a:latin typeface="Arial"/>
                          <a:ea typeface="Arial"/>
                        </a:rPr>
                        <a:t>Accessibility</a:t>
                      </a:r>
                      <a:endParaRPr lang="en-US" sz="1800" b="0" u="none" strike="noStrike">
                        <a:solidFill>
                          <a:srgbClr val="000000"/>
                        </a:solidFill>
                        <a:effectLst/>
                        <a:uFillTx/>
                        <a:latin typeface="Arial"/>
                      </a:endParaRPr>
                    </a:p>
                  </a:txBody>
                  <a:tcPr anchor="ctr" marL="91440" marR="91440" marT="45720" marB="45720">
                    <a:lnL w="9360">
                      <a:solidFill>
                        <a:srgbClr val="DEDBD4"/>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20 automated scans</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c>
                  <a:txBody>
                    <a:bodyPr anchor="ctr">
                      <a:noAutofit/>
                    </a:bodyPr>
                    <a:p>
                      <a:pPr>
                        <a:lnSpc>
                          <a:spcPct val="100000"/>
                        </a:lnSpc>
                      </a:pPr>
                      <a:r>
                        <a:rPr lang="en-US" sz="1800" b="0" u="none" strike="noStrike">
                          <a:solidFill>
                            <a:srgbClr val="292D28"/>
                          </a:solidFill>
                          <a:effectLst/>
                          <a:uFillTx/>
                          <a:latin typeface="Arial"/>
                          <a:ea typeface="Arial"/>
                        </a:rPr>
                        <a:t>0 automated violations</a:t>
                      </a:r>
                      <a:endParaRPr lang="en-US" sz="1800" b="0" u="none" strike="noStrike">
                        <a:solidFill>
                          <a:srgbClr val="000000"/>
                        </a:solidFill>
                        <a:effectLst/>
                        <a:uFillTx/>
                        <a:latin typeface="Arial"/>
                      </a:endParaRPr>
                    </a:p>
                  </a:txBody>
                  <a:tcPr anchor="ctr" marL="91440" marR="91440" marT="45720" marB="45720">
                    <a:lnL w="12240">
                      <a:solidFill>
                        <a:srgbClr val="000000"/>
                      </a:solidFill>
                      <a:prstDash val="solid"/>
                    </a:lnL>
                    <a:lnR w="9360">
                      <a:solidFill>
                        <a:srgbClr val="DEDBD4"/>
                      </a:solidFill>
                      <a:prstDash val="solid"/>
                    </a:lnR>
                    <a:lnT w="12240">
                      <a:solidFill>
                        <a:srgbClr val="000000"/>
                      </a:solidFill>
                      <a:prstDash val="solid"/>
                    </a:lnT>
                    <a:lnB w="9360">
                      <a:solidFill>
                        <a:srgbClr val="DEDBD4"/>
                      </a:solidFill>
                      <a:prstDash val="solid"/>
                    </a:lnB>
                    <a:solidFill>
                      <a:srgbClr val="FAF9F6"/>
                    </a:solidFill>
                  </a:tcPr>
                </a:tc>
              </a:tr>
            </a:tbl>
          </a:graphicData>
        </a:graphic>
      </p:graphicFrame>
      <p:sp>
        <p:nvSpPr>
          <p:cNvPr id="77" name="outcome"/>
          <p:cNvSpPr/>
          <p:nvPr/>
        </p:nvSpPr>
        <p:spPr>
          <a:xfrm>
            <a:off x="609480" y="4809960"/>
            <a:ext cx="10972440" cy="45684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2020" b="1" u="none" strike="noStrike">
                <a:solidFill>
                  <a:srgbClr val="292D28"/>
                </a:solidFill>
                <a:effectLst/>
                <a:uFillTx/>
                <a:latin typeface="Arial"/>
                <a:ea typeface="Arial"/>
              </a:rPr>
              <a:t>Outcome: Searchable stays, owner controls and a responsive interface.</a:t>
            </a:r>
            <a:endParaRPr lang="en-US" sz="2020" b="0" u="none" strike="noStrike">
              <a:solidFill>
                <a:srgbClr val="000000"/>
              </a:solidFill>
              <a:effectLst/>
              <a:uFillTx/>
              <a:latin typeface="Arial"/>
            </a:endParaRPr>
          </a:p>
        </p:txBody>
      </p:sp>
      <p:sp>
        <p:nvSpPr>
          <p:cNvPr id="78" name="future"/>
          <p:cNvSpPr/>
          <p:nvPr/>
        </p:nvSpPr>
        <p:spPr>
          <a:xfrm>
            <a:off x="609480" y="5334120"/>
            <a:ext cx="1097244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800" b="0" u="none" strike="noStrike">
                <a:solidFill>
                  <a:srgbClr val="62665D"/>
                </a:solidFill>
                <a:effectLst/>
                <a:uFillTx/>
                <a:latin typeface="Arial"/>
                <a:ea typeface="Arial"/>
              </a:rPr>
              <a:t>Future: Booking availability, payments and account-synced saved stays.</a:t>
            </a:r>
            <a:endParaRPr lang="en-US" sz="1800" b="0" u="none" strike="noStrike">
              <a:solidFill>
                <a:srgbClr val="000000"/>
              </a:solidFill>
              <a:effectLst/>
              <a:uFillTx/>
              <a:latin typeface="Arial"/>
            </a:endParaRPr>
          </a:p>
        </p:txBody>
      </p:sp>
      <p:sp>
        <p:nvSpPr>
          <p:cNvPr id="79" name="live-link"/>
          <p:cNvSpPr/>
          <p:nvPr/>
        </p:nvSpPr>
        <p:spPr>
          <a:xfrm>
            <a:off x="609480" y="5829480"/>
            <a:ext cx="10972440" cy="266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650" b="0" u="sng" strike="noStrike">
                <a:solidFill>
                  <a:srgbClr val="467886"/>
                </a:solidFill>
                <a:effectLst/>
                <a:uFillTx/>
                <a:latin typeface="Arial"/>
                <a:ea typeface="Arial"/>
                <a:hlinkClick r:id="rId1"/>
              </a:rPr>
              <a:t>https://wanderlusts-kjty.onrender.com/listings</a:t>
            </a:r>
            <a:endParaRPr lang="en-US" sz="1650" b="0" u="none" strike="noStrike">
              <a:solidFill>
                <a:srgbClr val="000000"/>
              </a:solidFill>
              <a:effectLst/>
              <a:uFillTx/>
              <a:latin typeface="Arial"/>
            </a:endParaRPr>
          </a:p>
        </p:txBody>
      </p:sp>
      <p:sp>
        <p:nvSpPr>
          <p:cNvPr id="80" name="repo-link"/>
          <p:cNvSpPr/>
          <p:nvPr/>
        </p:nvSpPr>
        <p:spPr>
          <a:xfrm>
            <a:off x="609480" y="6134040"/>
            <a:ext cx="10972440" cy="266400"/>
          </a:xfrm>
          <a:prstGeom prst="rect">
            <a:avLst/>
          </a:prstGeom>
          <a:noFill/>
          <a:ln w="0">
            <a:noFill/>
          </a:ln>
        </p:spPr>
        <p:style>
          <a:lnRef idx="0"/>
          <a:fillRef idx="0"/>
          <a:effectRef idx="0"/>
          <a:fontRef idx="minor"/>
        </p:style>
        <p:txBody>
          <a:bodyPr lIns="0" tIns="0" rIns="0" bIns="0" anchor="t">
            <a:noAutofit/>
          </a:bodyPr>
          <a:p>
            <a:pPr>
              <a:lnSpc>
                <a:spcPct val="100000"/>
              </a:lnSpc>
            </a:pPr>
            <a:r>
              <a:rPr lang="en-US" sz="1650" b="0" u="sng" strike="noStrike">
                <a:solidFill>
                  <a:srgbClr val="467886"/>
                </a:solidFill>
                <a:effectLst/>
                <a:uFillTx/>
                <a:latin typeface="Arial"/>
                <a:ea typeface="Arial"/>
                <a:hlinkClick r:id="rId2"/>
              </a:rPr>
              <a:t>https://github.com/Namansharma644/WanderLust</a:t>
            </a:r>
            <a:endParaRPr lang="en-US" sz="16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pitchFamily="0" charset="1"/>
        <a:ea typeface=""/>
        <a:cs typeface=""/>
      </a:majorFont>
      <a:minorFont>
        <a:latin typeface="Aptos" pitchFamily="0" charset="1"/>
        <a:ea typeface=""/>
        <a:cs typeface=""/>
      </a:minorFont>
    </a:fontScheme>
    <a:fmtScheme>
      <a:fillStyleLst>
        <a:solidFill>
          <a:schemeClr val="phClr"/>
        </a:solidFill>
        <a:gradFill>
          <a:gsLst>
            <a:gs pos="0">
              <a:schemeClr val="phClr">
                <a:tint val="67000"/>
                <a:lumMod val="110000"/>
              </a:schemeClr>
            </a:gs>
            <a:gs pos="50000">
              <a:schemeClr val="phClr">
                <a:tint val="73000"/>
                <a:lumMod val="105000"/>
              </a:schemeClr>
            </a:gs>
            <a:gs pos="100000">
              <a:schemeClr val="phClr">
                <a:tint val="81000"/>
                <a:lumMod val="105000"/>
              </a:schemeClr>
            </a:gs>
          </a:gsLst>
          <a:lin ang="5400000" scaled="0"/>
          <a:tileRect l="0" t="0" r="0" b="0"/>
        </a:gradFill>
        <a:gradFill>
          <a:gsLst>
            <a:gs pos="0">
              <a:schemeClr val="phClr">
                <a:tint val="94000"/>
                <a:lumMod val="102000"/>
              </a:schemeClr>
            </a:gs>
            <a:gs pos="50000">
              <a:schemeClr val="phClr">
                <a:shade val="100000"/>
                <a:lumMod val="100000"/>
              </a:schemeClr>
            </a:gs>
            <a:gs pos="100000">
              <a:schemeClr val="phClr">
                <a:shade val="78000"/>
                <a:lumMod val="99000"/>
              </a:schemeClr>
            </a:gs>
          </a:gsLst>
          <a:lin ang="5400000" scaled="0"/>
          <a:tileRect l="0" t="0" r="0" b="0"/>
        </a:gradFill>
      </a:fillStyleLst>
      <a:lnStyleLst>
        <a:ln w="12700">
          <a:prstDash val="solid"/>
        </a:ln>
        <a:ln w="19050">
          <a:prstDash val="solid"/>
        </a:ln>
        <a:ln w="25400">
          <a:prstDash val="solid"/>
        </a:ln>
      </a:lnStyleLst>
      <a:effectStyleLst>
        <a:effectStyle>
          <a:effectLst/>
        </a:effectStyle>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LibreOfficeDev/26.8.0.0.alpha0$Linux_X86_64 LibreOffice_project/2c87e51eeaa2b413ff4ae097b2705eea1995d8e5</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2026-10-29T06:15:01Z</dcterms:created>
  <dc:creator>Walnut Exporter</dc:creator>
  <dc:description/>
  <dc:language>en-US</dc:language>
  <cp:lastModifiedBy>Walnut Exporter</cp:lastModifiedBy>
  <dcterms:modified xsi:type="dcterms:W3CDTF">2026-10-29T06:15:01Z</dcterms:modified>
  <cp:revision>0</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Converted Presentation</vt:lpwstr>
  </property>
</Properties>
</file>